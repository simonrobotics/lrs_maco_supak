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media1.mp4" ContentType="video/unknown"/>
  <Override PartName="/ppt/media/media2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6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7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778240" y="-2011680"/>
            <a:ext cx="6400803" cy="6400803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" name="Shape 1"/>
          <p:cNvSpPr/>
          <p:nvPr/>
        </p:nvSpPr>
        <p:spPr>
          <a:xfrm>
            <a:off x="-2377440" y="4206240"/>
            <a:ext cx="5486403" cy="5486403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" name="Text 2"/>
          <p:cNvSpPr txBox="1"/>
          <p:nvPr/>
        </p:nvSpPr>
        <p:spPr>
          <a:xfrm>
            <a:off x="868680" y="2044264"/>
            <a:ext cx="104241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600">
                <a:solidFill>
                  <a:srgbClr val="A9C7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LIETAJÚCE ROBOTICKÉ SYSTÉMY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822960" y="2480311"/>
            <a:ext cx="10424160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5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Cvičenie 1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68680" y="3502355"/>
            <a:ext cx="996696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700">
                <a:solidFill>
                  <a:srgbClr val="CFE0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Organizácia semestra  ·  Základy dronov  ·  ROS 2 + SITL + MAVROS  ·  Zadanie 1</a:t>
            </a:r>
          </a:p>
        </p:txBody>
      </p:sp>
      <p:sp>
        <p:nvSpPr>
          <p:cNvPr id="25" name="Shape 5"/>
          <p:cNvSpPr/>
          <p:nvPr/>
        </p:nvSpPr>
        <p:spPr>
          <a:xfrm>
            <a:off x="822958" y="4160520"/>
            <a:ext cx="2926083" cy="2"/>
          </a:xfrm>
          <a:prstGeom prst="line">
            <a:avLst/>
          </a:prstGeom>
          <a:ln w="28575">
            <a:solidFill>
              <a:srgbClr val="E8A33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868679" y="4517496"/>
            <a:ext cx="5394962" cy="566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30000"/>
              </a:lnSpc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Eduard Zelenay  </a:t>
            </a:r>
            <a:r>
              <a:rPr b="0">
                <a:solidFill>
                  <a:srgbClr val="9FB3D6"/>
                </a:solidFill>
              </a:rPr>
              <a:t>(D612)</a:t>
            </a:r>
          </a:p>
          <a:p>
            <a:pPr>
              <a:lnSpc>
                <a:spcPct val="130000"/>
              </a:lnSpc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Maroš Kocúr  </a:t>
            </a:r>
            <a:r>
              <a:rPr b="0">
                <a:solidFill>
                  <a:srgbClr val="9FB3D6"/>
                </a:solidFill>
              </a:rPr>
              <a:t>(D612 | D613)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868680" y="6333667"/>
            <a:ext cx="7223760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repo: KocurMaros/LRS-URK  ·  vetva main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521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" name="Shape 1"/>
          <p:cNvSpPr/>
          <p:nvPr/>
        </p:nvSpPr>
        <p:spPr>
          <a:xfrm>
            <a:off x="9692640" y="3017520"/>
            <a:ext cx="5029203" cy="5029203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" name="Text 2"/>
          <p:cNvSpPr txBox="1"/>
          <p:nvPr/>
        </p:nvSpPr>
        <p:spPr>
          <a:xfrm>
            <a:off x="868680" y="2435861"/>
            <a:ext cx="2651762" cy="98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60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868680" y="3404869"/>
            <a:ext cx="9509760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Organizácia semestra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868680" y="4238824"/>
            <a:ext cx="90525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FE0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Zadania, bodovanie a termíny</a:t>
            </a:r>
          </a:p>
        </p:txBody>
      </p:sp>
      <p:sp>
        <p:nvSpPr>
          <p:cNvPr id="34" name="Text 5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ORGANIZÁCIA SEMESTRA</a:t>
            </a:r>
          </a:p>
        </p:txBody>
      </p:sp>
      <p:sp>
        <p:nvSpPr>
          <p:cNvPr id="3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Dve zadania, jeden test</a:t>
            </a:r>
          </a:p>
        </p:txBody>
      </p:sp>
      <p:graphicFrame>
        <p:nvGraphicFramePr>
          <p:cNvPr id="39" name="Table 0"/>
          <p:cNvGraphicFramePr/>
          <p:nvPr/>
        </p:nvGraphicFramePr>
        <p:xfrm>
          <a:off x="548640" y="1554480"/>
          <a:ext cx="11064241" cy="14630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54480"/>
                <a:gridCol w="6675119"/>
                <a:gridCol w="1005839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Čo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Body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17233D"/>
                          </a:solidFill>
                        </a:rPr>
                        <a:t>Zadanie 1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Autonómna misia — indoor + outdoor (povinné, rovnaké pre všetkých)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20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koniec 6. týždňa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17233D"/>
                          </a:solidFill>
                        </a:rPr>
                        <a:t>Zadanie 2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Vyberiete si jednu z ponúkaných tém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10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koniec 12. týždňa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17233D"/>
                          </a:solidFill>
                        </a:rPr>
                        <a:t>Test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Krátky písomný test z prednáškovej látky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10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2. polovica semestra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40" name="Shape 2"/>
          <p:cNvSpPr/>
          <p:nvPr/>
        </p:nvSpPr>
        <p:spPr>
          <a:xfrm>
            <a:off x="548640" y="3154678"/>
            <a:ext cx="11064241" cy="566930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" name="Text 3"/>
          <p:cNvSpPr txBox="1"/>
          <p:nvPr/>
        </p:nvSpPr>
        <p:spPr>
          <a:xfrm>
            <a:off x="868680" y="3297745"/>
            <a:ext cx="10424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10000"/>
              </a:lnSpc>
              <a:defRPr b="1"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Spolu: </a:t>
            </a:r>
            <a:r>
              <a:rPr>
                <a:solidFill>
                  <a:srgbClr val="065A82"/>
                </a:solidFill>
              </a:rPr>
              <a:t>40 bodov</a:t>
            </a:r>
            <a:r>
              <a:rPr b="0" sz="1200">
                <a:solidFill>
                  <a:srgbClr val="55647F"/>
                </a:solidFill>
              </a:rPr>
              <a:t>   (20 + 10 + 10). Zadanie 1 je štvordielne — A1.1 až A1.4 — dá sa odovzdávať a obhajovať priebežne.</a:t>
            </a:r>
          </a:p>
        </p:txBody>
      </p:sp>
      <p:graphicFrame>
        <p:nvGraphicFramePr>
          <p:cNvPr id="42" name="Table 1"/>
          <p:cNvGraphicFramePr/>
          <p:nvPr/>
        </p:nvGraphicFramePr>
        <p:xfrm>
          <a:off x="548640" y="3840479"/>
          <a:ext cx="11064241" cy="23774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8720"/>
                <a:gridCol w="9875520"/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Týždeň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Čo sa deje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1C72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1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Setup: gz sim, ArduPilot SITL, MAVROS, ROS 2 workspace. Zadanie 1 zadané.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2–3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A1.1 mapovanie a plánovanie · A1.2 riadiaci uzol, indoor let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4–5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A1.3 outdoor GPS misia (najskôr možný let na reálnom dróne) · integrácia, A1.4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6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Deadline Zadania 1. Obhajoba. Predstavenie tém Zadania 2.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7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Výber témy Zadania 2.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8–11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Práca na Zadaní 2, konzultácie. V tomto období aj test z prednášok.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12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7233D"/>
                          </a:solidFill>
                        </a:rPr>
                        <a:t>Deadline Zadania 2. Obhajoba na poslednom cvičení.</a:t>
                      </a:r>
                    </a:p>
                  </a:txBody>
                  <a:tcPr marL="25400" marR="25400" marT="25400" marB="25400" anchor="t" anchorCtr="0" horzOverflow="overflow">
                    <a:lnL w="6350">
                      <a:solidFill>
                        <a:srgbClr val="DCE4EF"/>
                      </a:solidFill>
                    </a:lnL>
                    <a:lnR w="6350">
                      <a:solidFill>
                        <a:srgbClr val="DCE4EF"/>
                      </a:solidFill>
                    </a:lnR>
                    <a:lnT w="6350">
                      <a:solidFill>
                        <a:srgbClr val="DCE4EF"/>
                      </a:solidFill>
                    </a:lnT>
                    <a:lnB w="635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 4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BODOVANIE</a:t>
            </a:r>
          </a:p>
        </p:txBody>
      </p:sp>
      <p:sp>
        <p:nvSpPr>
          <p:cNvPr id="47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Hranica na pripustenie k testu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594358" y="1794511"/>
            <a:ext cx="4114803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84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56 %</a:t>
            </a:r>
          </a:p>
        </p:txBody>
      </p:sp>
      <p:sp>
        <p:nvSpPr>
          <p:cNvPr id="49" name="Text 3"/>
          <p:cNvSpPr txBox="1"/>
          <p:nvPr/>
        </p:nvSpPr>
        <p:spPr>
          <a:xfrm>
            <a:off x="594358" y="3248487"/>
            <a:ext cx="4114803" cy="543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zo súčtu Zadanie 1 + Zadanie 2</a:t>
            </a:r>
          </a:p>
          <a:p>
            <a:pPr>
              <a:lnSpc>
                <a:spcPct val="120000"/>
              </a:lnSpc>
              <a:defRPr sz="15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(≥ 16.8 z 30 bodov)</a:t>
            </a:r>
          </a:p>
        </p:txBody>
      </p:sp>
      <p:sp>
        <p:nvSpPr>
          <p:cNvPr id="50" name="Shape 4"/>
          <p:cNvSpPr/>
          <p:nvPr/>
        </p:nvSpPr>
        <p:spPr>
          <a:xfrm>
            <a:off x="5166359" y="1691638"/>
            <a:ext cx="6355082" cy="3977644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" name="Text 5"/>
          <p:cNvSpPr txBox="1"/>
          <p:nvPr/>
        </p:nvSpPr>
        <p:spPr>
          <a:xfrm>
            <a:off x="5486398" y="1907540"/>
            <a:ext cx="5760722" cy="345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Počíta sa to spolu, nie zvlášť</a:t>
            </a:r>
          </a:p>
        </p:txBody>
      </p:sp>
      <p:sp>
        <p:nvSpPr>
          <p:cNvPr id="52" name="Text 6"/>
          <p:cNvSpPr txBox="1"/>
          <p:nvPr/>
        </p:nvSpPr>
        <p:spPr>
          <a:xfrm>
            <a:off x="5486400" y="2377439"/>
            <a:ext cx="5715000" cy="220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Test z prednášok nie je touto hranicou dotknutý — to je vec prednášajúceho.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20/20 zo Zadania 1 a 0/10 zo Zadania 2 → 20/30 = 66,7 % — spĺňa hranicu.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12/20 zo Zadania 1 a 6/10 zo Zadania 2 → 18/30 = 60 % — tiež spĺňa.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400">
                <a:solidFill>
                  <a:srgbClr val="C2432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Neskoré odovzdanie zráža body ešte PRED kontrolou hranice — pozri ďalší slajd.</a:t>
            </a:r>
          </a:p>
        </p:txBody>
      </p:sp>
      <p:sp>
        <p:nvSpPr>
          <p:cNvPr id="53" name="Text 7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54" name="Text 8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BODOVANIE</a:t>
            </a:r>
          </a:p>
        </p:txBody>
      </p:sp>
      <p:sp>
        <p:nvSpPr>
          <p:cNvPr id="57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Neskoré odovzdanie</a:t>
            </a:r>
          </a:p>
        </p:txBody>
      </p:sp>
      <p:sp>
        <p:nvSpPr>
          <p:cNvPr id="58" name="Text 2"/>
          <p:cNvSpPr txBox="1"/>
          <p:nvPr/>
        </p:nvSpPr>
        <p:spPr>
          <a:xfrm>
            <a:off x="594359" y="1689801"/>
            <a:ext cx="1097280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Každý začatý týždeň po deadline stojí 10 % z bodov, ktoré ste na danom zadaní získali.</a:t>
            </a:r>
          </a:p>
        </p:txBody>
      </p:sp>
      <p:graphicFrame>
        <p:nvGraphicFramePr>
          <p:cNvPr id="59" name="Table 0"/>
          <p:cNvGraphicFramePr/>
          <p:nvPr/>
        </p:nvGraphicFramePr>
        <p:xfrm>
          <a:off x="548640" y="2331720"/>
          <a:ext cx="7680960" cy="27432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291840"/>
                <a:gridCol w="2011679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Odovzdané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Násobiteľ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Príklad: 16 b získaných na Zadaní 1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Včas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× 1.00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65A82"/>
                          </a:solidFill>
                        </a:rPr>
                        <a:t>16.0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1 týždeň po termíne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× 0.90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65A82"/>
                          </a:solidFill>
                        </a:rPr>
                        <a:t>14.4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2 týždne po termíne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× 0.80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65A82"/>
                          </a:solidFill>
                        </a:rPr>
                        <a:t>12.8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3 týždne po termíne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× 0.70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65A82"/>
                          </a:solidFill>
                        </a:rPr>
                        <a:t>11.2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4 týždne po termíne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× 0.60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65A82"/>
                          </a:solidFill>
                        </a:rPr>
                        <a:t>9.6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DCE4EF"/>
                      </a:solidFill>
                    </a:lnL>
                    <a:lnR>
                      <a:solidFill>
                        <a:srgbClr val="DCE4EF"/>
                      </a:solidFill>
                    </a:lnR>
                    <a:lnT>
                      <a:solidFill>
                        <a:srgbClr val="DCE4EF"/>
                      </a:solidFill>
                    </a:lnT>
                    <a:lnB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3"/>
          <p:cNvSpPr/>
          <p:nvPr/>
        </p:nvSpPr>
        <p:spPr>
          <a:xfrm>
            <a:off x="8458200" y="2331720"/>
            <a:ext cx="3154680" cy="2743202"/>
          </a:xfrm>
          <a:prstGeom prst="roundRect">
            <a:avLst>
              <a:gd name="adj" fmla="val 2667"/>
            </a:avLst>
          </a:prstGeom>
          <a:solidFill>
            <a:srgbClr val="FBEDEA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" name="Text 4"/>
          <p:cNvSpPr txBox="1"/>
          <p:nvPr/>
        </p:nvSpPr>
        <p:spPr>
          <a:xfrm>
            <a:off x="8732518" y="2557780"/>
            <a:ext cx="457202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200">
                <a:solidFill>
                  <a:srgbClr val="C2432B"/>
                </a:solidFill>
              </a:defRPr>
            </a:lvl1pPr>
          </a:lstStyle>
          <a:p>
            <a:pPr/>
            <a:r>
              <a:t>⚠</a:t>
            </a:r>
          </a:p>
        </p:txBody>
      </p:sp>
      <p:sp>
        <p:nvSpPr>
          <p:cNvPr id="62" name="Text 5"/>
          <p:cNvSpPr txBox="1"/>
          <p:nvPr/>
        </p:nvSpPr>
        <p:spPr>
          <a:xfrm>
            <a:off x="8778239" y="3352575"/>
            <a:ext cx="2560322" cy="1204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Zrážka sa uplatní PRED kontrolou 56 % hranice — neskoré odovzdanie vás z nej môže vyradiť, aj keď bol pôvodný výkon v poriadku. Plánujte podľa toho.</a:t>
            </a:r>
          </a:p>
        </p:txBody>
      </p:sp>
      <p:sp>
        <p:nvSpPr>
          <p:cNvPr id="63" name="Text 6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64" name="Text 7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REÁLNY DRON</a:t>
            </a:r>
          </a:p>
        </p:txBody>
      </p:sp>
      <p:sp>
        <p:nvSpPr>
          <p:cNvPr id="67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Lietanie na reálnom UAV</a:t>
            </a:r>
          </a:p>
        </p:txBody>
      </p:sp>
      <p:sp>
        <p:nvSpPr>
          <p:cNvPr id="68" name="Text 2"/>
          <p:cNvSpPr txBox="1"/>
          <p:nvPr/>
        </p:nvSpPr>
        <p:spPr>
          <a:xfrm>
            <a:off x="594359" y="1689801"/>
            <a:ext cx="1097280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Od 4. do 12. týždňa si môžete odomknúť lietanie vonku na reálnom dróne — nie automaticky, ale po splnení všetkých podmienok:</a:t>
            </a:r>
          </a:p>
        </p:txBody>
      </p:sp>
      <p:sp>
        <p:nvSpPr>
          <p:cNvPr id="69" name="Shape 3"/>
          <p:cNvSpPr/>
          <p:nvPr/>
        </p:nvSpPr>
        <p:spPr>
          <a:xfrm>
            <a:off x="548640" y="2331720"/>
            <a:ext cx="502923" cy="502923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" name="Text 4"/>
          <p:cNvSpPr txBox="1"/>
          <p:nvPr/>
        </p:nvSpPr>
        <p:spPr>
          <a:xfrm>
            <a:off x="594359" y="24168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" name="Text 5"/>
          <p:cNvSpPr txBox="1"/>
          <p:nvPr/>
        </p:nvSpPr>
        <p:spPr>
          <a:xfrm>
            <a:off x="1280159" y="2625661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je kompletne odovzdané — všetky štyri podzadania, kód v repozitári, napísaná dokumentácia.</a:t>
            </a:r>
          </a:p>
        </p:txBody>
      </p:sp>
      <p:sp>
        <p:nvSpPr>
          <p:cNvPr id="72" name="Shape 6"/>
          <p:cNvSpPr/>
          <p:nvPr/>
        </p:nvSpPr>
        <p:spPr>
          <a:xfrm>
            <a:off x="548640" y="3291840"/>
            <a:ext cx="502923" cy="502923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" name="Text 7"/>
          <p:cNvSpPr txBox="1"/>
          <p:nvPr/>
        </p:nvSpPr>
        <p:spPr>
          <a:xfrm>
            <a:off x="594359" y="337693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4" name="Text 8"/>
          <p:cNvSpPr txBox="1"/>
          <p:nvPr/>
        </p:nvSpPr>
        <p:spPr>
          <a:xfrm>
            <a:off x="1280159" y="3585780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Absolvovali ste konzultáciu s cvičiacim — prejdete kódom a ukážete misiu lietať v simulácii.</a:t>
            </a:r>
          </a:p>
        </p:txBody>
      </p:sp>
      <p:sp>
        <p:nvSpPr>
          <p:cNvPr id="75" name="Shape 9"/>
          <p:cNvSpPr/>
          <p:nvPr/>
        </p:nvSpPr>
        <p:spPr>
          <a:xfrm>
            <a:off x="548640" y="4251959"/>
            <a:ext cx="502923" cy="502923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" name="Text 10"/>
          <p:cNvSpPr txBox="1"/>
          <p:nvPr/>
        </p:nvSpPr>
        <p:spPr>
          <a:xfrm>
            <a:off x="594359" y="4337049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" name="Text 11"/>
          <p:cNvSpPr txBox="1"/>
          <p:nvPr/>
        </p:nvSpPr>
        <p:spPr>
          <a:xfrm>
            <a:off x="1280159" y="4545901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Absolvovali ste bezpečnostné školenie a vaša misia prejde pred-letovou kontrolou z A1.3.</a:t>
            </a:r>
          </a:p>
        </p:txBody>
      </p:sp>
      <p:sp>
        <p:nvSpPr>
          <p:cNvPr id="78" name="Shape 12"/>
          <p:cNvSpPr/>
          <p:nvPr/>
        </p:nvSpPr>
        <p:spPr>
          <a:xfrm>
            <a:off x="548640" y="5394959"/>
            <a:ext cx="11064241" cy="1005842"/>
          </a:xfrm>
          <a:prstGeom prst="roundRect">
            <a:avLst>
              <a:gd name="adj" fmla="val 7273"/>
            </a:avLst>
          </a:prstGeom>
          <a:solidFill>
            <a:srgbClr val="FBEDEA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" name="Text 13"/>
          <p:cNvSpPr txBox="1"/>
          <p:nvPr/>
        </p:nvSpPr>
        <p:spPr>
          <a:xfrm>
            <a:off x="868680" y="5654672"/>
            <a:ext cx="10424160" cy="486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15000"/>
              </a:lnSpc>
              <a:defRPr b="1" sz="1300">
                <a:solidFill>
                  <a:srgbClr val="C2432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Vždy s učiteľom a bezpečnostným pilotom s RC vysielačom, ktorý môže kedykoľvek prevziať riadenie. </a:t>
            </a:r>
            <a:r>
              <a:rPr b="0">
                <a:solidFill>
                  <a:srgbClr val="17233D"/>
                </a:solidFill>
              </a:rPr>
              <a:t>Reálny let neprináša extra body — je to len odmena za skorší postup; všetko sa hodnotí zo simulácie.</a:t>
            </a:r>
          </a:p>
        </p:txBody>
      </p:sp>
      <p:sp>
        <p:nvSpPr>
          <p:cNvPr id="80" name="Text 14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81" name="Text 15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AKO PRACOVAŤ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 história a konzultácie</a:t>
            </a:r>
          </a:p>
        </p:txBody>
      </p:sp>
      <p:sp>
        <p:nvSpPr>
          <p:cNvPr id="85" name="Shape 2"/>
          <p:cNvSpPr/>
          <p:nvPr/>
        </p:nvSpPr>
        <p:spPr>
          <a:xfrm>
            <a:off x="548640" y="1691638"/>
            <a:ext cx="5440680" cy="3977644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" name="Text 3"/>
          <p:cNvSpPr txBox="1"/>
          <p:nvPr/>
        </p:nvSpPr>
        <p:spPr>
          <a:xfrm>
            <a:off x="868678" y="1936750"/>
            <a:ext cx="4846323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 — bez bodov, ale s pokutou</a:t>
            </a:r>
          </a:p>
        </p:txBody>
      </p:sp>
      <p:sp>
        <p:nvSpPr>
          <p:cNvPr id="87" name="Text 4"/>
          <p:cNvSpPr txBox="1"/>
          <p:nvPr/>
        </p:nvSpPr>
        <p:spPr>
          <a:xfrm>
            <a:off x="868678" y="2423161"/>
            <a:ext cx="4846323" cy="2027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Za samotné používanie gitu nie sú body, ale neprehľadná história (jeden commit tesne pred deadlinom, prepísaná/force-pushnutá história, tímový commit bez rozlíšenia autora) body zráža.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Stačí zopár čestných, priebežných commitov od toho, kto danú časť naozaj napísal.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Odporúčaný postup: main → devel → vetva na osobu/feature → PR do devel (merge bez squashu) → na konci squash devel → main.</a:t>
            </a:r>
          </a:p>
        </p:txBody>
      </p:sp>
      <p:sp>
        <p:nvSpPr>
          <p:cNvPr id="88" name="Shape 5"/>
          <p:cNvSpPr/>
          <p:nvPr/>
        </p:nvSpPr>
        <p:spPr>
          <a:xfrm>
            <a:off x="6172200" y="1691638"/>
            <a:ext cx="5440680" cy="3977644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" name="Text 6"/>
          <p:cNvSpPr txBox="1"/>
          <p:nvPr/>
        </p:nvSpPr>
        <p:spPr>
          <a:xfrm>
            <a:off x="6492238" y="1936750"/>
            <a:ext cx="4846323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Konzultácie a pomoc</a:t>
            </a:r>
          </a:p>
        </p:txBody>
      </p:sp>
      <p:sp>
        <p:nvSpPr>
          <p:cNvPr id="90" name="Text 7"/>
          <p:cNvSpPr txBox="1"/>
          <p:nvPr/>
        </p:nvSpPr>
        <p:spPr>
          <a:xfrm>
            <a:off x="6492238" y="2423161"/>
            <a:ext cx="4846323" cy="2065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Najrýchlejšie: pýtajte sa priamo na cvičení.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Napíšte cvičiacemu na Teams — konkrétna otázka, čo ste skúšali, presná chybová hláška, kúsok kódu.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Dohodnite si súkromnú konzultáciu — online alebo osobne.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Konzultačné hodiny má každý učiteľ zverejnené v AIS.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b="1" sz="13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Nesedte zaseknutí týždeň — päť minút otázky v utorok má väčšiu hodnotu než päť hodín hádania v nedeľu.</a:t>
            </a:r>
          </a:p>
        </p:txBody>
      </p:sp>
      <p:sp>
        <p:nvSpPr>
          <p:cNvPr id="91" name="Text 8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92" name="Text 9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521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Shape 1"/>
          <p:cNvSpPr/>
          <p:nvPr/>
        </p:nvSpPr>
        <p:spPr>
          <a:xfrm>
            <a:off x="9692640" y="3017520"/>
            <a:ext cx="5029203" cy="5029203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Text 2"/>
          <p:cNvSpPr txBox="1"/>
          <p:nvPr/>
        </p:nvSpPr>
        <p:spPr>
          <a:xfrm>
            <a:off x="868680" y="2435861"/>
            <a:ext cx="2651762" cy="98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60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97" name="Text 3"/>
          <p:cNvSpPr txBox="1"/>
          <p:nvPr/>
        </p:nvSpPr>
        <p:spPr>
          <a:xfrm>
            <a:off x="868680" y="3404869"/>
            <a:ext cx="9509760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98" name="Text 4"/>
          <p:cNvSpPr txBox="1"/>
          <p:nvPr/>
        </p:nvSpPr>
        <p:spPr>
          <a:xfrm>
            <a:off x="868680" y="4238824"/>
            <a:ext cx="90525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FE0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Komponenty, pohon, riadenie</a:t>
            </a:r>
          </a:p>
        </p:txBody>
      </p:sp>
      <p:sp>
        <p:nvSpPr>
          <p:cNvPr id="99" name="Text 5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00" name="Text 6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03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Laboratórium LRS</a:t>
            </a:r>
          </a:p>
        </p:txBody>
      </p:sp>
      <p:pic>
        <p:nvPicPr>
          <p:cNvPr id="10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691638"/>
            <a:ext cx="5212080" cy="34985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89320" y="1691638"/>
            <a:ext cx="5212080" cy="3504919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Shape 2"/>
          <p:cNvSpPr/>
          <p:nvPr/>
        </p:nvSpPr>
        <p:spPr>
          <a:xfrm>
            <a:off x="548640" y="5715000"/>
            <a:ext cx="11064241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Text 3"/>
          <p:cNvSpPr txBox="1"/>
          <p:nvPr/>
        </p:nvSpPr>
        <p:spPr>
          <a:xfrm>
            <a:off x="868680" y="5869364"/>
            <a:ext cx="10424160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OptiTrack priestor 20 × 15 × 6 m</a:t>
            </a:r>
            <a:r>
              <a:rPr b="0">
                <a:solidFill>
                  <a:srgbClr val="55647F"/>
                </a:solidFill>
              </a:rPr>
              <a:t>   — motion-capture systém pre presnú lokalizáciu v laboratóriu, nezávisle od GPS.</a:t>
            </a:r>
          </a:p>
        </p:txBody>
      </p:sp>
      <p:sp>
        <p:nvSpPr>
          <p:cNvPr id="108" name="Text 4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Celkový pohľad na multirotor UAV</a:t>
            </a:r>
          </a:p>
        </p:txBody>
      </p:sp>
      <p:pic>
        <p:nvPicPr>
          <p:cNvPr id="1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43400" y="1737360"/>
            <a:ext cx="6949441" cy="42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2"/>
          <p:cNvSpPr txBox="1"/>
          <p:nvPr/>
        </p:nvSpPr>
        <p:spPr>
          <a:xfrm>
            <a:off x="594359" y="1691639"/>
            <a:ext cx="3566162" cy="2892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6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Pohon</a:t>
            </a:r>
          </a:p>
          <a:p>
            <a:pPr lvl="1" marL="457200" indent="-228600">
              <a:lnSpc>
                <a:spcPct val="108000"/>
              </a:lnSpc>
              <a:spcBef>
                <a:spcPts val="6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motory, ESC, vrtule</a:t>
            </a:r>
          </a:p>
          <a:p>
            <a:pPr marL="342900" indent="-342900">
              <a:lnSpc>
                <a:spcPct val="108000"/>
              </a:lnSpc>
              <a:spcBef>
                <a:spcPts val="6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Napájanie</a:t>
            </a:r>
          </a:p>
          <a:p>
            <a:pPr lvl="1" marL="457200" indent="-228600">
              <a:lnSpc>
                <a:spcPct val="108000"/>
              </a:lnSpc>
              <a:spcBef>
                <a:spcPts val="6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Li-Po / Li-Ion batéria, power module</a:t>
            </a:r>
          </a:p>
          <a:p>
            <a:pPr marL="342900" indent="-342900">
              <a:lnSpc>
                <a:spcPct val="108000"/>
              </a:lnSpc>
              <a:spcBef>
                <a:spcPts val="6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Autopilot</a:t>
            </a:r>
          </a:p>
          <a:p>
            <a:pPr lvl="1" marL="457200" indent="-228600">
              <a:lnSpc>
                <a:spcPct val="108000"/>
              </a:lnSpc>
              <a:spcBef>
                <a:spcPts val="6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IMU, barometer, kompas, GPS</a:t>
            </a:r>
          </a:p>
          <a:p>
            <a:pPr marL="342900" indent="-342900">
              <a:lnSpc>
                <a:spcPct val="108000"/>
              </a:lnSpc>
              <a:spcBef>
                <a:spcPts val="6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Rádiové spojenie</a:t>
            </a:r>
          </a:p>
          <a:p>
            <a:pPr lvl="1" marL="457200" indent="-228600">
              <a:lnSpc>
                <a:spcPct val="108000"/>
              </a:lnSpc>
              <a:spcBef>
                <a:spcPts val="6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RC prijímač, telemetria, GCS</a:t>
            </a:r>
          </a:p>
          <a:p>
            <a:pPr marL="342900" indent="-342900">
              <a:lnSpc>
                <a:spcPct val="108000"/>
              </a:lnSpc>
              <a:spcBef>
                <a:spcPts val="6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Aplikačný počítač</a:t>
            </a:r>
          </a:p>
          <a:p>
            <a:pPr lvl="1" marL="457200" indent="-228600">
              <a:lnSpc>
                <a:spcPct val="108000"/>
              </a:lnSpc>
              <a:spcBef>
                <a:spcPts val="6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kamera, vyšší-úrovňové riadenie</a:t>
            </a:r>
          </a:p>
        </p:txBody>
      </p:sp>
      <p:sp>
        <p:nvSpPr>
          <p:cNvPr id="115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16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 · POHONNÉ SYSTÉMY</a:t>
            </a:r>
          </a:p>
        </p:txBody>
      </p:sp>
      <p:sp>
        <p:nvSpPr>
          <p:cNvPr id="119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Elektromotory</a:t>
            </a:r>
          </a:p>
        </p:txBody>
      </p:sp>
      <p:sp>
        <p:nvSpPr>
          <p:cNvPr id="120" name="Text 2"/>
          <p:cNvSpPr txBox="1"/>
          <p:nvPr/>
        </p:nvSpPr>
        <p:spPr>
          <a:xfrm>
            <a:off x="594359" y="1691639"/>
            <a:ext cx="4023362" cy="2301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DC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menšie drony, 0–6 V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BLDC (bezkefkový)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outrunner konštrukcia, typicky 12–60 V napájanie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BLDC potrebuje elektronickú komutáciu — na to slúži ESC (ďalší slajd).</a:t>
            </a:r>
          </a:p>
        </p:txBody>
      </p:sp>
      <p:pic>
        <p:nvPicPr>
          <p:cNvPr id="1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4920" y="2461934"/>
            <a:ext cx="2057402" cy="2482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200" y="2984280"/>
            <a:ext cx="2057400" cy="14380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555480" y="2742819"/>
            <a:ext cx="2057402" cy="192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25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 · POHONNÉ SYSTÉMY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Frekvenčné meniče (ESC)</a:t>
            </a:r>
          </a:p>
        </p:txBody>
      </p:sp>
      <p:sp>
        <p:nvSpPr>
          <p:cNvPr id="129" name="Text 2"/>
          <p:cNvSpPr txBox="1"/>
          <p:nvPr/>
        </p:nvSpPr>
        <p:spPr>
          <a:xfrm>
            <a:off x="594358" y="1737361"/>
            <a:ext cx="5029203" cy="215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300"/>
              </a:spcBef>
              <a:buSzPct val="100000"/>
              <a:buChar char="▪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Označované aj ako ESC — electronic speed controller.</a:t>
            </a:r>
          </a:p>
          <a:p>
            <a:pPr marL="342900" indent="-342900">
              <a:lnSpc>
                <a:spcPct val="108000"/>
              </a:lnSpc>
              <a:spcBef>
                <a:spcPts val="13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Riadenie</a:t>
            </a:r>
          </a:p>
          <a:p>
            <a:pPr lvl="1" marL="457200" indent="-228600">
              <a:lnSpc>
                <a:spcPct val="108000"/>
              </a:lnSpc>
              <a:spcBef>
                <a:spcPts val="13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six-step komutácia, alebo FOC (field-oriented control) — vektorové riadenie</a:t>
            </a:r>
          </a:p>
          <a:p>
            <a:pPr marL="342900" indent="-342900">
              <a:lnSpc>
                <a:spcPct val="108000"/>
              </a:lnSpc>
              <a:spcBef>
                <a:spcPts val="13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Komunikačný protokol</a:t>
            </a:r>
          </a:p>
          <a:p>
            <a:pPr lvl="1" marL="457200" indent="-228600">
              <a:lnSpc>
                <a:spcPct val="108000"/>
              </a:lnSpc>
              <a:spcBef>
                <a:spcPts val="13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PWM, UART, CAN</a:t>
            </a:r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5040" y="1828800"/>
            <a:ext cx="2743202" cy="20444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35040" y="4101860"/>
            <a:ext cx="5120642" cy="1879210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33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 · POHONNÉ SYSTÉMY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Vrtule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594358" y="1737361"/>
            <a:ext cx="5029203" cy="2029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Konštrukcia</a:t>
            </a:r>
          </a:p>
          <a:p>
            <a:pPr lvl="1" marL="457200" indent="-228600">
              <a:lnSpc>
                <a:spcPct val="108000"/>
              </a:lnSpc>
              <a:spcBef>
                <a:spcPts val="14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pevné, alebo sklopné (skladacie — kompaktnejší transport)</a:t>
            </a:r>
          </a:p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Materiál</a:t>
            </a:r>
          </a:p>
          <a:p>
            <a:pPr lvl="1" marL="457200" indent="-228600">
              <a:lnSpc>
                <a:spcPct val="108000"/>
              </a:lnSpc>
              <a:spcBef>
                <a:spcPts val="14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uhlíkové vlákno (tuhé, ľahké), plast (lacné, pružné), drevo (tiché, tuhé)</a:t>
            </a:r>
          </a:p>
        </p:txBody>
      </p:sp>
      <p:pic>
        <p:nvPicPr>
          <p:cNvPr id="1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600" y="2797087"/>
            <a:ext cx="2720340" cy="1995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92540" y="2747804"/>
            <a:ext cx="2720342" cy="209391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41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44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Napájanie — Li-Po vs Li-Ion</a:t>
            </a:r>
          </a:p>
        </p:txBody>
      </p:sp>
      <p:sp>
        <p:nvSpPr>
          <p:cNvPr id="145" name="Shape 2"/>
          <p:cNvSpPr/>
          <p:nvPr/>
        </p:nvSpPr>
        <p:spPr>
          <a:xfrm>
            <a:off x="548640" y="1691638"/>
            <a:ext cx="5349241" cy="4114803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6" name="Text 3"/>
          <p:cNvSpPr txBox="1"/>
          <p:nvPr/>
        </p:nvSpPr>
        <p:spPr>
          <a:xfrm>
            <a:off x="868679" y="1901190"/>
            <a:ext cx="466344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Li-Pol</a:t>
            </a:r>
          </a:p>
        </p:txBody>
      </p:sp>
      <p:sp>
        <p:nvSpPr>
          <p:cNvPr id="147" name="Text 4"/>
          <p:cNvSpPr txBox="1"/>
          <p:nvPr/>
        </p:nvSpPr>
        <p:spPr>
          <a:xfrm>
            <a:off x="868679" y="2331721"/>
            <a:ext cx="4663442" cy="1791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vyššie vybíjacie prúdy — desiatky C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nižšia energetická hustota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mechanicky menej odolné puzdro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U/článok: 4.2–4.4 V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príklad konfigurácie: 6S</a:t>
            </a:r>
          </a:p>
        </p:txBody>
      </p:sp>
      <p:sp>
        <p:nvSpPr>
          <p:cNvPr id="148" name="Shape 5"/>
          <p:cNvSpPr/>
          <p:nvPr/>
        </p:nvSpPr>
        <p:spPr>
          <a:xfrm>
            <a:off x="6080759" y="1691638"/>
            <a:ext cx="5349241" cy="4114803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9" name="Text 6"/>
          <p:cNvSpPr txBox="1"/>
          <p:nvPr/>
        </p:nvSpPr>
        <p:spPr>
          <a:xfrm>
            <a:off x="6400799" y="1901190"/>
            <a:ext cx="466344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Li-Ion</a:t>
            </a:r>
          </a:p>
        </p:txBody>
      </p:sp>
      <p:sp>
        <p:nvSpPr>
          <p:cNvPr id="150" name="Text 7"/>
          <p:cNvSpPr txBox="1"/>
          <p:nvPr/>
        </p:nvSpPr>
        <p:spPr>
          <a:xfrm>
            <a:off x="6400799" y="2331721"/>
            <a:ext cx="4663442" cy="1791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nižšie vybíjacie prúdy — jednotky C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vyššia energetická hustota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mechanicky pevné puzdro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U/článok: 4.2 V</a:t>
            </a:r>
          </a:p>
          <a:p>
            <a:pPr marL="342900" indent="-342900">
              <a:lnSpc>
                <a:spcPct val="108000"/>
              </a:lnSpc>
              <a:spcBef>
                <a:spcPts val="1100"/>
              </a:spcBef>
              <a:buSzPct val="100000"/>
              <a:buChar char="▪"/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príklad konfigurácie: 6S3P</a:t>
            </a:r>
          </a:p>
        </p:txBody>
      </p:sp>
      <p:sp>
        <p:nvSpPr>
          <p:cNvPr id="151" name="Text 8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52" name="Text 9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55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Autopilotné systémy — HW</a:t>
            </a:r>
          </a:p>
        </p:txBody>
      </p:sp>
      <p:sp>
        <p:nvSpPr>
          <p:cNvPr id="156" name="Text 2"/>
          <p:cNvSpPr txBox="1"/>
          <p:nvPr/>
        </p:nvSpPr>
        <p:spPr>
          <a:xfrm>
            <a:off x="594359" y="1737361"/>
            <a:ext cx="4206242" cy="2501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Integrované snímače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IMU, barometer, magnetometer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5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Moderné systémy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vyhrievané IMU (teplotná stabilita)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vibračné oddelenie (mechanický filter šumu)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modulárna konštrukcia (výmenné senzorové dosky)</a:t>
            </a:r>
          </a:p>
        </p:txBody>
      </p:sp>
      <p:pic>
        <p:nvPicPr>
          <p:cNvPr id="15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4920" y="1737360"/>
            <a:ext cx="3291842" cy="20718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49640" y="1737360"/>
            <a:ext cx="2651762" cy="2651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74920" y="3992078"/>
            <a:ext cx="3108962" cy="1799054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61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64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GNSS lokalizácia a komunikačné moduly</a:t>
            </a:r>
          </a:p>
        </p:txBody>
      </p:sp>
      <p:sp>
        <p:nvSpPr>
          <p:cNvPr id="165" name="Shape 2"/>
          <p:cNvSpPr/>
          <p:nvPr/>
        </p:nvSpPr>
        <p:spPr>
          <a:xfrm>
            <a:off x="548640" y="1737360"/>
            <a:ext cx="5349241" cy="4023360"/>
          </a:xfrm>
          <a:prstGeom prst="roundRect">
            <a:avLst>
              <a:gd name="adj" fmla="val 1818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6" name="Text 3"/>
          <p:cNvSpPr txBox="1"/>
          <p:nvPr/>
        </p:nvSpPr>
        <p:spPr>
          <a:xfrm>
            <a:off x="868679" y="1953260"/>
            <a:ext cx="4663442" cy="345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GNSS lokalizácia</a:t>
            </a:r>
          </a:p>
        </p:txBody>
      </p:sp>
      <p:sp>
        <p:nvSpPr>
          <p:cNvPr id="167" name="Text 4"/>
          <p:cNvSpPr txBox="1"/>
          <p:nvPr/>
        </p:nvSpPr>
        <p:spPr>
          <a:xfrm>
            <a:off x="868679" y="2423161"/>
            <a:ext cx="4663442" cy="131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GNSS prijímače — GPS, GLONASS, Galileo…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4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RTK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real-time kinematic — korekcie polohy na centimetrovú presnosť</a:t>
            </a:r>
          </a:p>
        </p:txBody>
      </p:sp>
      <p:sp>
        <p:nvSpPr>
          <p:cNvPr id="168" name="Shape 5"/>
          <p:cNvSpPr/>
          <p:nvPr/>
        </p:nvSpPr>
        <p:spPr>
          <a:xfrm>
            <a:off x="6080759" y="1737360"/>
            <a:ext cx="5349241" cy="4023360"/>
          </a:xfrm>
          <a:prstGeom prst="roundRect">
            <a:avLst>
              <a:gd name="adj" fmla="val 1818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" name="Text 6"/>
          <p:cNvSpPr txBox="1"/>
          <p:nvPr/>
        </p:nvSpPr>
        <p:spPr>
          <a:xfrm>
            <a:off x="6400799" y="1953260"/>
            <a:ext cx="4663442" cy="345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Komunikačné moduly</a:t>
            </a:r>
          </a:p>
        </p:txBody>
      </p:sp>
      <p:sp>
        <p:nvSpPr>
          <p:cNvPr id="170" name="Text 7"/>
          <p:cNvSpPr txBox="1"/>
          <p:nvPr/>
        </p:nvSpPr>
        <p:spPr>
          <a:xfrm>
            <a:off x="6400799" y="2423161"/>
            <a:ext cx="4663442" cy="1469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Rádio: 434 MHz, 868 MHz, 915 MHz, 2.4 GHz, 5 GHz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Proprietárne FHSS protokoly (frequency-hopping)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WiFi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4G, 5G — pre dosah nad rámec priamej viditeľnosti</a:t>
            </a:r>
          </a:p>
        </p:txBody>
      </p:sp>
      <p:sp>
        <p:nvSpPr>
          <p:cNvPr id="171" name="Text 8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72" name="Text 9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75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Aplikačné počítače</a:t>
            </a:r>
          </a:p>
        </p:txBody>
      </p:sp>
      <p:sp>
        <p:nvSpPr>
          <p:cNvPr id="176" name="Text 2"/>
          <p:cNvSpPr txBox="1"/>
          <p:nvPr/>
        </p:nvSpPr>
        <p:spPr>
          <a:xfrm>
            <a:off x="594359" y="1737360"/>
            <a:ext cx="4937762" cy="245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Slúžia na vysokoúrovňové riadenie: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zložité lokalizačné a navigačné algoritmy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vizuálno-inerciálna odometria (VIO)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reaktívna navigácia pomocou stereovízie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AI sledovanie a inšpekcia</a:t>
            </a:r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Zvyčajne proprietárne počítače s OS Linux — často sa využíva aj ROS.</a:t>
            </a:r>
          </a:p>
        </p:txBody>
      </p:sp>
      <p:pic>
        <p:nvPicPr>
          <p:cNvPr id="1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0" y="1737360"/>
            <a:ext cx="4114800" cy="3123135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79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ZÁKLADY DRONOV</a:t>
            </a:r>
          </a:p>
        </p:txBody>
      </p:sp>
      <p:sp>
        <p:nvSpPr>
          <p:cNvPr id="182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Riadenie UAV — dve úrovne</a:t>
            </a:r>
          </a:p>
        </p:txBody>
      </p:sp>
      <p:sp>
        <p:nvSpPr>
          <p:cNvPr id="183" name="Text 2"/>
          <p:cNvSpPr txBox="1"/>
          <p:nvPr/>
        </p:nvSpPr>
        <p:spPr>
          <a:xfrm>
            <a:off x="594358" y="1737361"/>
            <a:ext cx="4114803" cy="2844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6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Attitude controller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stabilizuje sklon a natočenie (roll/pitch/yaw) — beží na autopilote, stovky Hz</a:t>
            </a:r>
            <a:endParaRPr sz="1600"/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b="1" sz="16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Position controller</a:t>
            </a:r>
          </a:p>
          <a:p>
            <a:pPr lvl="1" marL="457200" indent="-228600">
              <a:lnSpc>
                <a:spcPct val="108000"/>
              </a:lnSpc>
              <a:spcBef>
                <a:spcPts val="1200"/>
              </a:spcBef>
              <a:buSzPct val="100000"/>
              <a:buChar char="–"/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riadi polohu v priestore — buď priamo na autopilote (GUIDED), alebo z vášho ROS 2 uzla cez MAVROS</a:t>
            </a:r>
            <a:endParaRPr sz="1600"/>
          </a:p>
          <a:p>
            <a:pPr marL="342900" indent="-342900">
              <a:lnSpc>
                <a:spcPct val="108000"/>
              </a:lnSpc>
              <a:spcBef>
                <a:spcPts val="1200"/>
              </a:spcBef>
              <a:buSzPct val="100000"/>
              <a:buChar char="▪"/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Váš kód v tomto predmete píše prevažne position-level príkazy — autopilot sa postará o stabilitu.</a:t>
            </a:r>
          </a:p>
        </p:txBody>
      </p:sp>
      <p:pic>
        <p:nvPicPr>
          <p:cNvPr id="1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37759" y="2011678"/>
            <a:ext cx="6905216" cy="3566162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3"/>
          <p:cNvSpPr txBox="1"/>
          <p:nvPr/>
        </p:nvSpPr>
        <p:spPr>
          <a:xfrm>
            <a:off x="4983478" y="5737905"/>
            <a:ext cx="65836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ArduCopter V4.x — STABILIZE roll/pitch/yaw PID kaskáda</a:t>
            </a:r>
          </a:p>
        </p:txBody>
      </p:sp>
      <p:sp>
        <p:nvSpPr>
          <p:cNvPr id="186" name="Text 4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87" name="Text 5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521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0" name="Shape 1"/>
          <p:cNvSpPr/>
          <p:nvPr/>
        </p:nvSpPr>
        <p:spPr>
          <a:xfrm>
            <a:off x="9692640" y="3017520"/>
            <a:ext cx="5029203" cy="5029203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Text 2"/>
          <p:cNvSpPr txBox="1"/>
          <p:nvPr/>
        </p:nvSpPr>
        <p:spPr>
          <a:xfrm>
            <a:off x="868680" y="2435861"/>
            <a:ext cx="2651762" cy="98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60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92" name="Text 3"/>
          <p:cNvSpPr txBox="1"/>
          <p:nvPr/>
        </p:nvSpPr>
        <p:spPr>
          <a:xfrm>
            <a:off x="868680" y="3404869"/>
            <a:ext cx="9509760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ROS 2 + SITL + MAVROS</a:t>
            </a:r>
          </a:p>
        </p:txBody>
      </p:sp>
      <p:sp>
        <p:nvSpPr>
          <p:cNvPr id="193" name="Text 4"/>
          <p:cNvSpPr txBox="1"/>
          <p:nvPr/>
        </p:nvSpPr>
        <p:spPr>
          <a:xfrm>
            <a:off x="868680" y="4238824"/>
            <a:ext cx="90525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FE0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Od simulácie po váš prvý uzol</a:t>
            </a:r>
          </a:p>
        </p:txBody>
      </p:sp>
      <p:sp>
        <p:nvSpPr>
          <p:cNvPr id="194" name="Text 5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19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ArduCopter a SITL</a:t>
            </a:r>
          </a:p>
        </p:txBody>
      </p:sp>
      <p:sp>
        <p:nvSpPr>
          <p:cNvPr id="199" name="Shape 2"/>
          <p:cNvSpPr/>
          <p:nvPr/>
        </p:nvSpPr>
        <p:spPr>
          <a:xfrm>
            <a:off x="548640" y="1737360"/>
            <a:ext cx="11064241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Text 3"/>
          <p:cNvSpPr txBox="1"/>
          <p:nvPr/>
        </p:nvSpPr>
        <p:spPr>
          <a:xfrm>
            <a:off x="868680" y="1920239"/>
            <a:ext cx="10424160" cy="58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5000"/>
              </a:lnSpc>
              <a:defRPr b="1" sz="16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ArduCopter</a:t>
            </a:r>
            <a:r>
              <a:rPr b="0" sz="1400">
                <a:solidFill>
                  <a:srgbClr val="17233D"/>
                </a:solidFill>
              </a:rPr>
              <a:t> — firmvér (softvér bežiaci priamo na hardvéri) pre riadiacu dosku drona, napr. Pixhawk. Je to „mozog" drona: spracováva príkazy, stabilizuje let a riadi motory.</a:t>
            </a:r>
          </a:p>
        </p:txBody>
      </p:sp>
      <p:sp>
        <p:nvSpPr>
          <p:cNvPr id="201" name="Text 4"/>
          <p:cNvSpPr txBox="1"/>
          <p:nvPr/>
        </p:nvSpPr>
        <p:spPr>
          <a:xfrm>
            <a:off x="868680" y="2743200"/>
            <a:ext cx="10424160" cy="58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5000"/>
              </a:lnSpc>
              <a:defRPr b="1" sz="16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SITL</a:t>
            </a:r>
            <a:r>
              <a:rPr b="0" sz="1400">
                <a:solidFill>
                  <a:srgbClr val="17233D"/>
                </a:solidFill>
              </a:rPr>
              <a:t> (Software-In-The-Loop) — ArduCopter beží ako obyčajný proces na vašom počítači namiesto na reálnom hardvéri. Simuluje let bez potreby fyzického drona — presne to použijeme na cvičeniach.</a:t>
            </a:r>
          </a:p>
        </p:txBody>
      </p:sp>
      <p:sp>
        <p:nvSpPr>
          <p:cNvPr id="202" name="Shape 5"/>
          <p:cNvSpPr/>
          <p:nvPr/>
        </p:nvSpPr>
        <p:spPr>
          <a:xfrm>
            <a:off x="548640" y="3931920"/>
            <a:ext cx="11064241" cy="1920242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3" name="Text 6"/>
          <p:cNvSpPr txBox="1"/>
          <p:nvPr/>
        </p:nvSpPr>
        <p:spPr>
          <a:xfrm>
            <a:off x="868679" y="4098289"/>
            <a:ext cx="356616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Reťazec simulácie</a:t>
            </a:r>
          </a:p>
        </p:txBody>
      </p:sp>
      <p:sp>
        <p:nvSpPr>
          <p:cNvPr id="204" name="Shape 7"/>
          <p:cNvSpPr/>
          <p:nvPr/>
        </p:nvSpPr>
        <p:spPr>
          <a:xfrm>
            <a:off x="822960" y="4572000"/>
            <a:ext cx="2450594" cy="109728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Text 8"/>
          <p:cNvSpPr txBox="1"/>
          <p:nvPr/>
        </p:nvSpPr>
        <p:spPr>
          <a:xfrm>
            <a:off x="941830" y="4749599"/>
            <a:ext cx="221285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Gazebo (gz sim)</a:t>
            </a:r>
          </a:p>
        </p:txBody>
      </p:sp>
      <p:sp>
        <p:nvSpPr>
          <p:cNvPr id="206" name="Text 9"/>
          <p:cNvSpPr txBox="1"/>
          <p:nvPr/>
        </p:nvSpPr>
        <p:spPr>
          <a:xfrm>
            <a:off x="941830" y="5102353"/>
            <a:ext cx="221285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fyzika, senzory, vizualizácia</a:t>
            </a:r>
          </a:p>
        </p:txBody>
      </p:sp>
      <p:sp>
        <p:nvSpPr>
          <p:cNvPr id="207" name="Shape 10"/>
          <p:cNvSpPr/>
          <p:nvPr/>
        </p:nvSpPr>
        <p:spPr>
          <a:xfrm>
            <a:off x="3529584" y="4572000"/>
            <a:ext cx="2450594" cy="109728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8" name="Text 11"/>
          <p:cNvSpPr txBox="1"/>
          <p:nvPr/>
        </p:nvSpPr>
        <p:spPr>
          <a:xfrm>
            <a:off x="3648454" y="4749599"/>
            <a:ext cx="221285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ArduPilot SITL</a:t>
            </a:r>
          </a:p>
        </p:txBody>
      </p:sp>
      <p:sp>
        <p:nvSpPr>
          <p:cNvPr id="209" name="Text 12"/>
          <p:cNvSpPr txBox="1"/>
          <p:nvPr/>
        </p:nvSpPr>
        <p:spPr>
          <a:xfrm>
            <a:off x="3648454" y="5102353"/>
            <a:ext cx="221285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firmvér letovej riadiacej jednotky</a:t>
            </a:r>
          </a:p>
        </p:txBody>
      </p:sp>
      <p:sp>
        <p:nvSpPr>
          <p:cNvPr id="210" name="Shape 13"/>
          <p:cNvSpPr/>
          <p:nvPr/>
        </p:nvSpPr>
        <p:spPr>
          <a:xfrm>
            <a:off x="6236208" y="4572000"/>
            <a:ext cx="2450594" cy="109728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1" name="Text 14"/>
          <p:cNvSpPr txBox="1"/>
          <p:nvPr/>
        </p:nvSpPr>
        <p:spPr>
          <a:xfrm>
            <a:off x="6355079" y="4749599"/>
            <a:ext cx="2212850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MAVROS</a:t>
            </a:r>
          </a:p>
        </p:txBody>
      </p:sp>
      <p:sp>
        <p:nvSpPr>
          <p:cNvPr id="212" name="Text 15"/>
          <p:cNvSpPr txBox="1"/>
          <p:nvPr/>
        </p:nvSpPr>
        <p:spPr>
          <a:xfrm>
            <a:off x="6355079" y="5102353"/>
            <a:ext cx="221285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most do ROS 2</a:t>
            </a:r>
          </a:p>
        </p:txBody>
      </p:sp>
      <p:sp>
        <p:nvSpPr>
          <p:cNvPr id="213" name="Shape 16"/>
          <p:cNvSpPr/>
          <p:nvPr/>
        </p:nvSpPr>
        <p:spPr>
          <a:xfrm>
            <a:off x="8942830" y="4572000"/>
            <a:ext cx="2450594" cy="109728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" name="Text 17"/>
          <p:cNvSpPr txBox="1"/>
          <p:nvPr/>
        </p:nvSpPr>
        <p:spPr>
          <a:xfrm>
            <a:off x="9061702" y="4749599"/>
            <a:ext cx="2212850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Váš uzol</a:t>
            </a:r>
          </a:p>
        </p:txBody>
      </p:sp>
      <p:sp>
        <p:nvSpPr>
          <p:cNvPr id="215" name="Text 18"/>
          <p:cNvSpPr txBox="1"/>
          <p:nvPr/>
        </p:nvSpPr>
        <p:spPr>
          <a:xfrm>
            <a:off x="9061702" y="5102353"/>
            <a:ext cx="221285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plánovanie a riadenie misie</a:t>
            </a:r>
          </a:p>
        </p:txBody>
      </p:sp>
      <p:sp>
        <p:nvSpPr>
          <p:cNvPr id="216" name="Text 19"/>
          <p:cNvSpPr txBox="1"/>
          <p:nvPr/>
        </p:nvSpPr>
        <p:spPr>
          <a:xfrm>
            <a:off x="3291840" y="4954097"/>
            <a:ext cx="219458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7" name="Text 20"/>
          <p:cNvSpPr txBox="1"/>
          <p:nvPr/>
        </p:nvSpPr>
        <p:spPr>
          <a:xfrm>
            <a:off x="5998464" y="4954097"/>
            <a:ext cx="219458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8" name="Text 21"/>
          <p:cNvSpPr txBox="1"/>
          <p:nvPr/>
        </p:nvSpPr>
        <p:spPr>
          <a:xfrm>
            <a:off x="8705088" y="4954097"/>
            <a:ext cx="219458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" name="Text 22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20" name="Text 23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23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MAVROS — most medzi ROS 2 a dronom</a:t>
            </a:r>
          </a:p>
        </p:txBody>
      </p:sp>
      <p:sp>
        <p:nvSpPr>
          <p:cNvPr id="224" name="Text 2"/>
          <p:cNvSpPr txBox="1"/>
          <p:nvPr/>
        </p:nvSpPr>
        <p:spPr>
          <a:xfrm>
            <a:off x="594359" y="1735522"/>
            <a:ext cx="10972801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MAVROS prekladá medzi ROS 2 správami a protokolom MAVLink, obojsmerne:</a:t>
            </a:r>
          </a:p>
        </p:txBody>
      </p:sp>
      <p:sp>
        <p:nvSpPr>
          <p:cNvPr id="225" name="Shape 3"/>
          <p:cNvSpPr/>
          <p:nvPr/>
        </p:nvSpPr>
        <p:spPr>
          <a:xfrm>
            <a:off x="548640" y="2331720"/>
            <a:ext cx="5349241" cy="3291842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" name="Text 4"/>
          <p:cNvSpPr txBox="1"/>
          <p:nvPr/>
        </p:nvSpPr>
        <p:spPr>
          <a:xfrm>
            <a:off x="868679" y="2531110"/>
            <a:ext cx="4663442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ROS 2 → ArduCopter</a:t>
            </a:r>
          </a:p>
        </p:txBody>
      </p:sp>
      <p:sp>
        <p:nvSpPr>
          <p:cNvPr id="227" name="Text 5"/>
          <p:cNvSpPr txBox="1"/>
          <p:nvPr/>
        </p:nvSpPr>
        <p:spPr>
          <a:xfrm>
            <a:off x="868679" y="2971801"/>
            <a:ext cx="4663442" cy="851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MAVROS prijíma príkazy z vášho ROS 2 uzla (vzlietnutie, posun, pristátie) a prekladá ich do MAVLink správ, ktorým rozumie ArduCopter.</a:t>
            </a:r>
          </a:p>
        </p:txBody>
      </p:sp>
      <p:sp>
        <p:nvSpPr>
          <p:cNvPr id="228" name="Shape 6"/>
          <p:cNvSpPr/>
          <p:nvPr/>
        </p:nvSpPr>
        <p:spPr>
          <a:xfrm>
            <a:off x="6080759" y="2331720"/>
            <a:ext cx="5349241" cy="3291842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" name="Text 7"/>
          <p:cNvSpPr txBox="1"/>
          <p:nvPr/>
        </p:nvSpPr>
        <p:spPr>
          <a:xfrm>
            <a:off x="6400799" y="2531110"/>
            <a:ext cx="4663442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ArduCopter → ROS 2</a:t>
            </a:r>
          </a:p>
        </p:txBody>
      </p:sp>
      <p:sp>
        <p:nvSpPr>
          <p:cNvPr id="230" name="Text 8"/>
          <p:cNvSpPr txBox="1"/>
          <p:nvPr/>
        </p:nvSpPr>
        <p:spPr>
          <a:xfrm>
            <a:off x="6400799" y="2971801"/>
            <a:ext cx="4663442" cy="851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MAVROS prekladá dáta z ArduCopter (aktuálna pozícia, stav batérie, rýchlosť…) do ROS 2 správ, ktoré spracujete vo svojich uzloch.</a:t>
            </a:r>
          </a:p>
        </p:txBody>
      </p:sp>
      <p:sp>
        <p:nvSpPr>
          <p:cNvPr id="231" name="Text 9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32" name="Text 10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35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Spustenie simulácie — tri terminály</a:t>
            </a:r>
          </a:p>
        </p:txBody>
      </p:sp>
      <p:sp>
        <p:nvSpPr>
          <p:cNvPr id="236" name="Text 2"/>
          <p:cNvSpPr txBox="1"/>
          <p:nvPr/>
        </p:nvSpPr>
        <p:spPr>
          <a:xfrm>
            <a:off x="594359" y="1631119"/>
            <a:ext cx="1097280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Vždy ručne, po jednom skripte na terminál. Žiadny launch súbor to nespojí za vás — vedieť, čo robí každý proces, je súčasť zadania.</a:t>
            </a:r>
          </a:p>
        </p:txBody>
      </p:sp>
      <p:sp>
        <p:nvSpPr>
          <p:cNvPr id="237" name="Shape 3"/>
          <p:cNvSpPr/>
          <p:nvPr/>
        </p:nvSpPr>
        <p:spPr>
          <a:xfrm>
            <a:off x="548640" y="2103120"/>
            <a:ext cx="11064241" cy="2331722"/>
          </a:xfrm>
          <a:prstGeom prst="roundRect">
            <a:avLst>
              <a:gd name="adj" fmla="val 2353"/>
            </a:avLst>
          </a:prstGeom>
          <a:solidFill>
            <a:srgbClr val="1322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" name="Text 4"/>
          <p:cNvSpPr txBox="1"/>
          <p:nvPr/>
        </p:nvSpPr>
        <p:spPr>
          <a:xfrm>
            <a:off x="850390" y="2267711"/>
            <a:ext cx="10460739" cy="2029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2000"/>
              </a:lnSpc>
              <a:defRPr sz="1400">
                <a:solidFill>
                  <a:srgbClr val="7FA8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Terminál 1 — Gazebo (predvolene fei_lrs_gazebo.world)</a:t>
            </a:r>
          </a:p>
          <a:p>
            <a:pPr>
              <a:lnSpc>
                <a:spcPct val="122000"/>
              </a:lnSpc>
              <a:defRPr sz="1400">
                <a:solidFill>
                  <a:srgbClr val="B7F5C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scripts/run_gazebo.sh</a:t>
            </a:r>
          </a:p>
          <a:p>
            <a:pPr>
              <a:lnSpc>
                <a:spcPct val="122000"/>
              </a:lnSpc>
              <a:defRPr sz="14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400">
                <a:solidFill>
                  <a:srgbClr val="7FA8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Terminál 2 — ArduPilot SITL, premostené na bežiace Gazebo</a:t>
            </a:r>
          </a:p>
          <a:p>
            <a:pPr>
              <a:lnSpc>
                <a:spcPct val="122000"/>
              </a:lnSpc>
              <a:defRPr sz="1400">
                <a:solidFill>
                  <a:srgbClr val="B7F5C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scripts/run_sitl.sh</a:t>
            </a:r>
          </a:p>
          <a:p>
            <a:pPr>
              <a:lnSpc>
                <a:spcPct val="122000"/>
              </a:lnSpc>
              <a:defRPr sz="14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400">
                <a:solidFill>
                  <a:srgbClr val="7FA8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Terminál 3 — MAVROS, premostené na SITL</a:t>
            </a:r>
          </a:p>
          <a:p>
            <a:pPr>
              <a:lnSpc>
                <a:spcPct val="122000"/>
              </a:lnSpc>
              <a:defRPr sz="1400">
                <a:solidFill>
                  <a:srgbClr val="B7F5C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scripts/run_mavros.sh</a:t>
            </a:r>
          </a:p>
        </p:txBody>
      </p:sp>
      <p:sp>
        <p:nvSpPr>
          <p:cNvPr id="239" name="Shape 5"/>
          <p:cNvSpPr/>
          <p:nvPr/>
        </p:nvSpPr>
        <p:spPr>
          <a:xfrm>
            <a:off x="548640" y="4617720"/>
            <a:ext cx="11064241" cy="1417322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" name="Text 6"/>
          <p:cNvSpPr txBox="1"/>
          <p:nvPr/>
        </p:nvSpPr>
        <p:spPr>
          <a:xfrm>
            <a:off x="868680" y="4865369"/>
            <a:ext cx="10424160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Skontrolujte, že to naozaj beží: </a:t>
            </a:r>
            <a:r>
              <a:rPr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rPr>
              <a:t>ros2 topic list</a:t>
            </a:r>
            <a:r>
              <a:rPr b="0"/>
              <a:t> musí ukázať </a:t>
            </a:r>
            <a:r>
              <a:rPr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rPr>
              <a:t>/mavros/...</a:t>
            </a:r>
            <a:r>
              <a:rPr b="0"/>
              <a:t> topiky skôr, než začnete čokoľvek ďalšie.</a:t>
            </a:r>
          </a:p>
        </p:txBody>
      </p:sp>
      <p:sp>
        <p:nvSpPr>
          <p:cNvPr id="241" name="Text 7"/>
          <p:cNvSpPr txBox="1"/>
          <p:nvPr/>
        </p:nvSpPr>
        <p:spPr>
          <a:xfrm>
            <a:off x="868680" y="5257801"/>
            <a:ext cx="10424160" cy="47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Verzie Gazebo (Jetty vs. Harmonic) sú najčastejší dôvod, prečo sa plugin nenačíta alebo dron v scéne chýba — pozri „A note on Gazebo versions" v README pred debugovaním.</a:t>
            </a:r>
          </a:p>
        </p:txBody>
      </p:sp>
      <p:sp>
        <p:nvSpPr>
          <p:cNvPr id="242" name="Text 8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43" name="Text 9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46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ROS 2 workspace</a:t>
            </a:r>
          </a:p>
        </p:txBody>
      </p:sp>
      <p:sp>
        <p:nvSpPr>
          <p:cNvPr id="247" name="Shape 2"/>
          <p:cNvSpPr/>
          <p:nvPr/>
        </p:nvSpPr>
        <p:spPr>
          <a:xfrm>
            <a:off x="548640" y="1691638"/>
            <a:ext cx="6035041" cy="3108962"/>
          </a:xfrm>
          <a:prstGeom prst="roundRect">
            <a:avLst>
              <a:gd name="adj" fmla="val 1765"/>
            </a:avLst>
          </a:prstGeom>
          <a:solidFill>
            <a:srgbClr val="1322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Text 3"/>
          <p:cNvSpPr txBox="1"/>
          <p:nvPr/>
        </p:nvSpPr>
        <p:spPr>
          <a:xfrm>
            <a:off x="850390" y="1856233"/>
            <a:ext cx="5431539" cy="2004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workspace_folder/              # koreň workspace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├── src/                       # sem patria source kody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 └── package_1/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     ├── src/               # .cpp súbory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     ├── include/           # hlavičky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     ├── launch/            # launch súbory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     ├── CMakeLists.txt     # ako sa to builduje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│       └── package.xml        # od čoho to závisí</a:t>
            </a:r>
          </a:p>
          <a:p>
            <a:pPr>
              <a:lnSpc>
                <a:spcPct val="122000"/>
              </a:lnSpc>
              <a:defRPr sz="1200">
                <a:solidFill>
                  <a:srgbClr val="F2B2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├── build/  install/  log/     # generované — negitovať!</a:t>
            </a:r>
          </a:p>
        </p:txBody>
      </p:sp>
      <p:sp>
        <p:nvSpPr>
          <p:cNvPr id="249" name="Shape 4"/>
          <p:cNvSpPr/>
          <p:nvPr/>
        </p:nvSpPr>
        <p:spPr>
          <a:xfrm>
            <a:off x="6766559" y="1691638"/>
            <a:ext cx="4846321" cy="3108962"/>
          </a:xfrm>
          <a:prstGeom prst="roundRect">
            <a:avLst>
              <a:gd name="adj" fmla="val 1765"/>
            </a:avLst>
          </a:prstGeom>
          <a:solidFill>
            <a:srgbClr val="1322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Text 5"/>
          <p:cNvSpPr txBox="1"/>
          <p:nvPr/>
        </p:nvSpPr>
        <p:spPr>
          <a:xfrm>
            <a:off x="7068311" y="1856232"/>
            <a:ext cx="4242818" cy="1787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mkdir -p ~/ros2_ws/src &amp;&amp; cd ~/ros2_ws/src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ros2 pkg create --build-type ament_cmake \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--dependencies rclcpp geometry_msgs my_pkg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~/ros2_ws &amp;&amp; colcon build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source install/setup.bash   # v KAŽDOM novom terminále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ros2 run my_pkg my_node</a:t>
            </a:r>
          </a:p>
        </p:txBody>
      </p:sp>
      <p:sp>
        <p:nvSpPr>
          <p:cNvPr id="251" name="Shape 6"/>
          <p:cNvSpPr/>
          <p:nvPr/>
        </p:nvSpPr>
        <p:spPr>
          <a:xfrm>
            <a:off x="548640" y="4937759"/>
            <a:ext cx="11064241" cy="1143002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Text 7"/>
          <p:cNvSpPr txBox="1"/>
          <p:nvPr/>
        </p:nvSpPr>
        <p:spPr>
          <a:xfrm>
            <a:off x="868680" y="5247641"/>
            <a:ext cx="10424160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b="1"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Build error pomenúva hlavičku, ktorá „určite existuje"? </a:t>
            </a:r>
            <a:r>
              <a:rPr b="0"/>
              <a:t>Zmažte </a:t>
            </a:r>
            <a:r>
              <a:rPr>
                <a:solidFill>
                  <a:srgbClr val="C2432B"/>
                </a:solidFill>
                <a:latin typeface="Courier New"/>
                <a:ea typeface="Courier New"/>
                <a:cs typeface="Courier New"/>
                <a:sym typeface="Courier New"/>
              </a:rPr>
              <a:t>build/</a:t>
            </a:r>
            <a:r>
              <a:rPr b="0"/>
              <a:t> a </a:t>
            </a:r>
            <a:r>
              <a:rPr>
                <a:solidFill>
                  <a:srgbClr val="C2432B"/>
                </a:solidFill>
                <a:latin typeface="Courier New"/>
                <a:ea typeface="Courier New"/>
                <a:cs typeface="Courier New"/>
                <a:sym typeface="Courier New"/>
              </a:rPr>
              <a:t>install/</a:t>
            </a:r>
            <a:r>
              <a:rPr b="0"/>
              <a:t> a buildnite znova — zastaraná CMake cache vyzerá presne ako chyba v kóde.</a:t>
            </a:r>
          </a:p>
        </p:txBody>
      </p:sp>
      <p:sp>
        <p:nvSpPr>
          <p:cNvPr id="253" name="Text 8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54" name="Text 9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57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Základné príkazy v konzole</a:t>
            </a:r>
          </a:p>
        </p:txBody>
      </p:sp>
      <p:graphicFrame>
        <p:nvGraphicFramePr>
          <p:cNvPr id="258" name="Table 0"/>
          <p:cNvGraphicFramePr/>
          <p:nvPr/>
        </p:nvGraphicFramePr>
        <p:xfrm>
          <a:off x="548640" y="1691638"/>
          <a:ext cx="11064241" cy="420624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120640"/>
                <a:gridCol w="594360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Príkaz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Na čo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topic list  ·  ros2 node list  ·  ros2 service list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čo existuje — a presné meno topiku (preklep je tichý)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topic echo /mavros/local_position/pose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čítanie topiku — poloha v ENU metroch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topic hz &lt;topic&gt;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skutočná frekvencia — na nej stojí plynulosť riadenia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topic info &lt;topic&gt;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typ správy → viete, akú knižnicu (depend) potrebujete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interface show mavros_msgs/msg/PositionTarget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presné polia správy — najmä type_mask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param list/get/set …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parametre — namiesto prepisovania čísel v kóde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ros2 bag record -a -o run_$(date +%F_%H%M%S)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nahrajte KAŽDÝ beh misie — dôkaz aj ladenie zadarmo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59" name="Text 2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60" name="Text 3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63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Užitočné MAVROS topics a services</a:t>
            </a:r>
          </a:p>
        </p:txBody>
      </p:sp>
      <p:graphicFrame>
        <p:nvGraphicFramePr>
          <p:cNvPr id="264" name="Table 0"/>
          <p:cNvGraphicFramePr/>
          <p:nvPr/>
        </p:nvGraphicFramePr>
        <p:xfrm>
          <a:off x="548640" y="1600200"/>
          <a:ext cx="11064241" cy="448056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97680"/>
                <a:gridCol w="3383280"/>
                <a:gridCol w="3383280"/>
              </a:tblGrid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Topic / service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Typ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Čo dáva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/mavros/state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mavros_msgs/State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connected, armed, aktuálny mód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/mavros/local_position/pose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geometry_msgs/PoseStamped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lokálna poloha + orientácia — ENU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/mavros/global_position/global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sensor_msgs/NavSatFix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lat/lon/AMSL nadmorská výška, stav fixu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/mavros/global_position/compass_hdg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std_msgs/Float64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kurz v stupňoch od severu, v smere hodinových ručičiek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/mavros/home_position/home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mavros_msgs/HomePosition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kde je domov (home)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/mavros/setpoint_raw/local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mavros_msgs/PositionTarget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pozícia/rýchlosť/zrýchlenie + yaw setpoint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/mavros/setpoint_raw/global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mavros_msgs/GlobalPositionTarget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to isté, v lat/lon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set_mode, cmd/arming, cmd/takeoff, cmd/land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services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7233D"/>
                          </a:solidFill>
                        </a:rPr>
                        <a:t>zmena módu, arm, vzlet, pristátie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" name="Text 2"/>
          <p:cNvSpPr txBox="1"/>
          <p:nvPr/>
        </p:nvSpPr>
        <p:spPr>
          <a:xfrm>
            <a:off x="594359" y="6217964"/>
            <a:ext cx="1097280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Neverte tejto tabuľke naslepo — overte cez ros2 topic list a ros2 interface show na verzii MAVROS, ktorú máte nainštalovanú.</a:t>
            </a:r>
          </a:p>
        </p:txBody>
      </p:sp>
      <p:sp>
        <p:nvSpPr>
          <p:cNvPr id="266" name="Text 3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67" name="Text 4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70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ENU vs. NED — čo vás pokope najčastejšie</a:t>
            </a:r>
          </a:p>
        </p:txBody>
      </p:sp>
      <p:graphicFrame>
        <p:nvGraphicFramePr>
          <p:cNvPr id="271" name="Table 0"/>
          <p:cNvGraphicFramePr/>
          <p:nvPr/>
        </p:nvGraphicFramePr>
        <p:xfrm>
          <a:off x="548640" y="1645920"/>
          <a:ext cx="11064241" cy="19202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66159"/>
                <a:gridCol w="1463040"/>
                <a:gridCol w="1463040"/>
                <a:gridCol w="1463040"/>
                <a:gridCol w="1463040"/>
                <a:gridCol w="1645920"/>
              </a:tblGrid>
              <a:tr h="480060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Y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Yaw = 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Smer rastu yaw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ENU (ROS, MAVROS topics)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East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North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Up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East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proti smeru hod. ručičiek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NED (MAVLink, ArduPilot interne)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North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East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Down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North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v smere hod. ručičiek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Kompas (compass_hdg)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North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v smere hod. ručičiek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72" name="Shape 2"/>
          <p:cNvSpPr/>
          <p:nvPr/>
        </p:nvSpPr>
        <p:spPr>
          <a:xfrm>
            <a:off x="548640" y="3794759"/>
            <a:ext cx="11064241" cy="91440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Text 3"/>
          <p:cNvSpPr txBox="1"/>
          <p:nvPr/>
        </p:nvSpPr>
        <p:spPr>
          <a:xfrm>
            <a:off x="868680" y="4079239"/>
            <a:ext cx="10424160" cy="345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yaw_ENU = 90° − heading</a:t>
            </a:r>
            <a:r>
              <a:rPr b="0"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rPr>
              <a:t>   (zabalené do (−180°, 180°])</a:t>
            </a:r>
          </a:p>
        </p:txBody>
      </p:sp>
      <p:sp>
        <p:nvSpPr>
          <p:cNvPr id="274" name="Text 4"/>
          <p:cNvSpPr txBox="1"/>
          <p:nvPr/>
        </p:nvSpPr>
        <p:spPr>
          <a:xfrm>
            <a:off x="594359" y="4892041"/>
            <a:ext cx="10972801" cy="884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MAVROS prevádza medzi ENU a NED za vás na väčšine topikov — ale NIE vo vašej vlastnej matematike.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Zrkadlová alebo o 90° pootočená trajektória je takmer vždy práve toto — vypíšte si oba uhly a porovnajte, vždy.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Rovnaký problém sa vracia v A1.2 (yaw úloha), aj v A1.3 (kompas vs. GPS heading).</a:t>
            </a:r>
          </a:p>
        </p:txBody>
      </p:sp>
      <p:sp>
        <p:nvSpPr>
          <p:cNvPr id="275" name="Text 5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76" name="Text 6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79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Písanie uzla — subscriber</a:t>
            </a:r>
          </a:p>
        </p:txBody>
      </p:sp>
      <p:sp>
        <p:nvSpPr>
          <p:cNvPr id="280" name="Shape 2"/>
          <p:cNvSpPr/>
          <p:nvPr/>
        </p:nvSpPr>
        <p:spPr>
          <a:xfrm>
            <a:off x="548640" y="1691638"/>
            <a:ext cx="11064241" cy="2103124"/>
          </a:xfrm>
          <a:prstGeom prst="roundRect">
            <a:avLst>
              <a:gd name="adj" fmla="val 2609"/>
            </a:avLst>
          </a:prstGeom>
          <a:solidFill>
            <a:srgbClr val="1322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Text 3"/>
          <p:cNvSpPr txBox="1"/>
          <p:nvPr/>
        </p:nvSpPr>
        <p:spPr>
          <a:xfrm>
            <a:off x="850390" y="1856233"/>
            <a:ext cx="10460739" cy="167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2000"/>
              </a:lnSpc>
              <a:defRPr sz="1300">
                <a:solidFill>
                  <a:srgbClr val="7FA8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člen triedy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rclcpp::Subscription&lt;geometry_msgs::msg::PoseStamped&gt;::SharedPtr pose_sub_;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300">
                <a:solidFill>
                  <a:srgbClr val="7FA8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v konštruktore — POZOR na QoS!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pose_sub_ = create_subscription&lt;geometry_msgs::msg::PoseStamped&gt;(</a:t>
            </a:r>
          </a:p>
          <a:p>
            <a:pPr>
              <a:lnSpc>
                <a:spcPct val="122000"/>
              </a:lnSpc>
              <a:defRPr sz="1300">
                <a:solidFill>
                  <a:srgbClr val="F2B2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"mavros/local_position/pose", rclcpp::SensorDataQoS(),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std::bind(&amp;MyNode::pose_cb, this, std::placeholders::_1));</a:t>
            </a:r>
          </a:p>
        </p:txBody>
      </p:sp>
      <p:sp>
        <p:nvSpPr>
          <p:cNvPr id="282" name="Shape 4"/>
          <p:cNvSpPr/>
          <p:nvPr/>
        </p:nvSpPr>
        <p:spPr>
          <a:xfrm>
            <a:off x="548640" y="3977640"/>
            <a:ext cx="11064241" cy="2103122"/>
          </a:xfrm>
          <a:prstGeom prst="roundRect">
            <a:avLst>
              <a:gd name="adj" fmla="val 3478"/>
            </a:avLst>
          </a:prstGeom>
          <a:solidFill>
            <a:srgbClr val="FBEDEA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Text 5"/>
          <p:cNvSpPr txBox="1"/>
          <p:nvPr/>
        </p:nvSpPr>
        <p:spPr>
          <a:xfrm>
            <a:off x="868680" y="4144010"/>
            <a:ext cx="10424160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Najčastejšia tichá chyba v tomto predmete</a:t>
            </a:r>
          </a:p>
        </p:txBody>
      </p:sp>
      <p:sp>
        <p:nvSpPr>
          <p:cNvPr id="284" name="Text 6"/>
          <p:cNvSpPr txBox="1"/>
          <p:nvPr/>
        </p:nvSpPr>
        <p:spPr>
          <a:xfrm>
            <a:off x="868680" y="4572000"/>
            <a:ext cx="10424160" cy="598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MAVROS publikuje senzorové topiky ako </a:t>
            </a:r>
            <a:r>
              <a: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best effort</a:t>
            </a:r>
            <a:r>
              <a:t>. Subscriber s predvolenou (reliable) QoS nedostane ticho vôbec nič — topic je v </a:t>
            </a:r>
            <a:r>
              <a: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ros2 topic list</a:t>
            </a:r>
            <a:r>
              <a:t>, </a:t>
            </a:r>
            <a:r>
              <a: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ros2 topic echo</a:t>
            </a:r>
            <a:r>
              <a:t> dáta ukazuje, a váš callback sa aj tak nikdy nespustí. Použite </a:t>
            </a:r>
            <a:r>
              <a:rPr b="1">
                <a:solidFill>
                  <a:srgbClr val="C2432B"/>
                </a:solidFill>
                <a:latin typeface="Courier New"/>
                <a:ea typeface="Courier New"/>
                <a:cs typeface="Courier New"/>
                <a:sym typeface="Courier New"/>
              </a:rPr>
              <a:t>rclcpp::SensorDataQoS()</a:t>
            </a:r>
            <a:r>
              <a:t>.</a:t>
            </a:r>
          </a:p>
        </p:txBody>
      </p:sp>
      <p:sp>
        <p:nvSpPr>
          <p:cNvPr id="285" name="Text 7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86" name="Text 8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89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Písanie uzla — publisher a timer</a:t>
            </a:r>
          </a:p>
        </p:txBody>
      </p:sp>
      <p:sp>
        <p:nvSpPr>
          <p:cNvPr id="290" name="Shape 2"/>
          <p:cNvSpPr/>
          <p:nvPr/>
        </p:nvSpPr>
        <p:spPr>
          <a:xfrm>
            <a:off x="548640" y="1691638"/>
            <a:ext cx="11064241" cy="3429003"/>
          </a:xfrm>
          <a:prstGeom prst="roundRect">
            <a:avLst>
              <a:gd name="adj" fmla="val 1600"/>
            </a:avLst>
          </a:prstGeom>
          <a:solidFill>
            <a:srgbClr val="1322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Text 3"/>
          <p:cNvSpPr txBox="1"/>
          <p:nvPr/>
        </p:nvSpPr>
        <p:spPr>
          <a:xfrm>
            <a:off x="850390" y="1856233"/>
            <a:ext cx="10460739" cy="2872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setpoint_pub_ = create_publisher&lt;mavros_msgs::msg::PositionTarget&gt;(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"mavros/setpoint_raw/local", 10);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using namespace std::chrono_literals;</a:t>
            </a:r>
          </a:p>
          <a:p>
            <a:pPr>
              <a:lnSpc>
                <a:spcPct val="122000"/>
              </a:lnSpc>
              <a:defRPr sz="1200">
                <a:solidFill>
                  <a:srgbClr val="F2B2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timer_ = create_wall_timer(50ms, std::bind(&amp;MyNode::publish_sp, this));  // 20 Hz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publish_sp() {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mavros_msgs::msg::PositionTarget sp;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sp.coordinate_frame = PositionTarget::FRAME_LOCAL_NED;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sp.type_mask = /* bity polí, ktoré NEPOUŽÍVATE */;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sp.position.x = ...; sp.yaw = ...;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setpoint_pub_-&gt;publish(sp);</a:t>
            </a:r>
          </a:p>
          <a:p>
            <a:pPr>
              <a:lnSpc>
                <a:spcPct val="122000"/>
              </a:lnSpc>
              <a:defRPr sz="12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92" name="Shape 4"/>
          <p:cNvSpPr/>
          <p:nvPr/>
        </p:nvSpPr>
        <p:spPr>
          <a:xfrm>
            <a:off x="548640" y="5349240"/>
            <a:ext cx="11064241" cy="1051562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Text 5"/>
          <p:cNvSpPr txBox="1"/>
          <p:nvPr/>
        </p:nvSpPr>
        <p:spPr>
          <a:xfrm>
            <a:off x="868680" y="5648305"/>
            <a:ext cx="10424160" cy="49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Setpointy posielajte na časovači (</a:t>
            </a:r>
            <a:r>
              <a: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wall_timer</a:t>
            </a:r>
            <a:r>
              <a:t>), nikdy v </a:t>
            </a:r>
            <a:r>
              <a:rPr b="1">
                <a:solidFill>
                  <a:srgbClr val="C2432B"/>
                </a:solidFill>
                <a:latin typeface="Courier New"/>
                <a:ea typeface="Courier New"/>
                <a:cs typeface="Courier New"/>
                <a:sym typeface="Courier New"/>
              </a:rPr>
              <a:t>while + sleep</a:t>
            </a:r>
            <a:r>
              <a:t> — to zablokuje celý executor. A vypočítajte </a:t>
            </a:r>
            <a:r>
              <a: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type_mask</a:t>
            </a:r>
            <a:r>
              <a:t> z </a:t>
            </a:r>
            <a:r>
              <a:rPr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ros2 interface show mavros_msgs/msg/PositionTarget</a:t>
            </a:r>
            <a:r>
              <a:t> — zlá hodnota = autopilot ticho zahodí váš yaw alebo pozíciu.</a:t>
            </a:r>
          </a:p>
        </p:txBody>
      </p:sp>
      <p:sp>
        <p:nvSpPr>
          <p:cNvPr id="294" name="Text 6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295" name="Text 7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29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Služby — arm, mód, takeoff</a:t>
            </a:r>
          </a:p>
        </p:txBody>
      </p:sp>
      <p:sp>
        <p:nvSpPr>
          <p:cNvPr id="299" name="Shape 2"/>
          <p:cNvSpPr/>
          <p:nvPr/>
        </p:nvSpPr>
        <p:spPr>
          <a:xfrm>
            <a:off x="548640" y="1691638"/>
            <a:ext cx="11064241" cy="1691642"/>
          </a:xfrm>
          <a:prstGeom prst="roundRect">
            <a:avLst>
              <a:gd name="adj" fmla="val 3243"/>
            </a:avLst>
          </a:prstGeom>
          <a:solidFill>
            <a:srgbClr val="1322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Text 3"/>
          <p:cNvSpPr txBox="1"/>
          <p:nvPr/>
        </p:nvSpPr>
        <p:spPr>
          <a:xfrm>
            <a:off x="850390" y="1856233"/>
            <a:ext cx="10460739" cy="1443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auto client = create_client&lt;mavros_msgs::srv::CommandBool&gt;("mavros/cmd/arming");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client-&gt;wait_for_service(5s);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auto req = std::make_shared&lt;mavros_msgs::srv::CommandBool::Request&gt;();</a:t>
            </a:r>
          </a:p>
          <a:p>
            <a:pPr>
              <a:lnSpc>
                <a:spcPct val="122000"/>
              </a:lnSpc>
              <a:defRPr sz="1300">
                <a:solidFill>
                  <a:srgbClr val="D7E6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req-&gt;value = true;</a:t>
            </a:r>
          </a:p>
          <a:p>
            <a:pPr>
              <a:lnSpc>
                <a:spcPct val="122000"/>
              </a:lnSpc>
              <a:defRPr sz="1300">
                <a:solidFill>
                  <a:srgbClr val="F2B26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auto future = client-&gt;async_send_request(req);   // asynchrónne!</a:t>
            </a:r>
          </a:p>
        </p:txBody>
      </p:sp>
      <p:sp>
        <p:nvSpPr>
          <p:cNvPr id="301" name="Shape 4"/>
          <p:cNvSpPr/>
          <p:nvPr/>
        </p:nvSpPr>
        <p:spPr>
          <a:xfrm>
            <a:off x="548640" y="3611879"/>
            <a:ext cx="11064241" cy="2423162"/>
          </a:xfrm>
          <a:prstGeom prst="roundRect">
            <a:avLst>
              <a:gd name="adj" fmla="val 3019"/>
            </a:avLst>
          </a:prstGeom>
          <a:solidFill>
            <a:srgbClr val="FBEDEA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Text 5"/>
          <p:cNvSpPr txBox="1"/>
          <p:nvPr/>
        </p:nvSpPr>
        <p:spPr>
          <a:xfrm>
            <a:off x="868680" y="3778250"/>
            <a:ext cx="10424160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Druhá najčastejšia príčina „visiaceho" uzla</a:t>
            </a:r>
          </a:p>
        </p:txBody>
      </p:sp>
      <p:sp>
        <p:nvSpPr>
          <p:cNvPr id="303" name="Text 6"/>
          <p:cNvSpPr txBox="1"/>
          <p:nvPr/>
        </p:nvSpPr>
        <p:spPr>
          <a:xfrm>
            <a:off x="868680" y="4206241"/>
            <a:ext cx="10424160" cy="935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Nikdy nevolajte spin_until_future_complete() z vnútra callbacku — uzol už spinuje a toto ho deadlockne.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Odpoveď spracujte asynchrónne, alebo volanie robte z osobitnej callback group.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Rovnaký princíp platí pre set_mode aj takeoff/land services.</a:t>
            </a:r>
          </a:p>
        </p:txBody>
      </p:sp>
      <p:sp>
        <p:nvSpPr>
          <p:cNvPr id="304" name="Text 7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05" name="Text 8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30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Executory a callback groups</a:t>
            </a:r>
          </a:p>
        </p:txBody>
      </p:sp>
      <p:sp>
        <p:nvSpPr>
          <p:cNvPr id="309" name="Text 2"/>
          <p:cNvSpPr txBox="1"/>
          <p:nvPr/>
        </p:nvSpPr>
        <p:spPr>
          <a:xfrm>
            <a:off x="594359" y="1691553"/>
            <a:ext cx="10972801" cy="503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Váš uzol musí robiť viac vecí naraz: posielať setpointy na 20 Hz, spracovať prichádzajúcu pózu, a bežať plánovač, ktorý môže trvať sekundu. Jednovláknový executor necháva pomalý callback zablokovať všetko ostatné.</a:t>
            </a:r>
          </a:p>
        </p:txBody>
      </p:sp>
      <p:graphicFrame>
        <p:nvGraphicFramePr>
          <p:cNvPr id="310" name="Table 0"/>
          <p:cNvGraphicFramePr/>
          <p:nvPr/>
        </p:nvGraphicFramePr>
        <p:xfrm>
          <a:off x="548640" y="2468878"/>
          <a:ext cx="11064241" cy="19202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2926080"/>
                <a:gridCol w="164592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Callback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Skupina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Frekvencia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Účel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imu_sim_tick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imu_sim_group_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100 Hz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rýchla syntetická záťaž bez závislostí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vision_sim_tick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vision_sim_group_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30 Hz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pomalá záťaž (umelé 30 ms oneskorenie)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mavros_imu_cb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mavros_imu_group_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reálny subscriber: mavros/imu/data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mavros_pose_cb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mavros_pose_group_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reálny subscriber: mavros/local_position/pose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1" name="Shape 3"/>
          <p:cNvSpPr/>
          <p:nvPr/>
        </p:nvSpPr>
        <p:spPr>
          <a:xfrm>
            <a:off x="548640" y="4617720"/>
            <a:ext cx="11064241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Text 4"/>
          <p:cNvSpPr txBox="1"/>
          <p:nvPr/>
        </p:nvSpPr>
        <p:spPr>
          <a:xfrm>
            <a:off x="868680" y="4754880"/>
            <a:ext cx="10424160" cy="807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5000"/>
              </a:lnSpc>
              <a:defRPr b="1" sz="13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mt_executor_demo</a:t>
            </a:r>
            <a:r>
              <a:rPr b="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rPr>
              <a:t> v repozitári je hotový príklad: štyri callbacky, každý vo vlastnej </a:t>
            </a:r>
            <a:r>
              <a:rPr b="0">
                <a:solidFill>
                  <a:srgbClr val="000000"/>
                </a:solidFill>
              </a:rPr>
              <a:t>MutuallyExclusive</a:t>
            </a:r>
            <a:r>
              <a:rPr b="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rPr>
              <a:t> skupine, spinnuté cez </a:t>
            </a:r>
            <a:r>
              <a:rPr b="0" sz="1100">
                <a:solidFill>
                  <a:srgbClr val="000000"/>
                </a:solidFill>
              </a:rPr>
              <a:t>rclcpp::executors::MultiThreadedExecutor</a:t>
            </a:r>
            <a:r>
              <a:rPr b="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rPr>
              <a:t>. Spustite ho, potom vymeňte za </a:t>
            </a:r>
            <a:r>
              <a:rPr b="0">
                <a:solidFill>
                  <a:srgbClr val="000000"/>
                </a:solidFill>
              </a:rPr>
              <a:t>SingleThreadedExecutor</a:t>
            </a:r>
            <a:r>
              <a:rPr b="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rPr>
              <a:t> — rozdiel v logoch uvidíte do sekundy: 100 Hz tik sa začne zadrhávať za 30 ms oneskorením.</a:t>
            </a:r>
          </a:p>
        </p:txBody>
      </p:sp>
      <p:sp>
        <p:nvSpPr>
          <p:cNvPr id="313" name="Text 5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14" name="Text 6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317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Nahrávanie a vizualizácia</a:t>
            </a:r>
          </a:p>
        </p:txBody>
      </p:sp>
      <p:graphicFrame>
        <p:nvGraphicFramePr>
          <p:cNvPr id="318" name="Table 0"/>
          <p:cNvGraphicFramePr/>
          <p:nvPr/>
        </p:nvGraphicFramePr>
        <p:xfrm>
          <a:off x="548640" y="1691638"/>
          <a:ext cx="11064241" cy="411480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06240"/>
                <a:gridCol w="685800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Nástroj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Prečo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ros2 bag record -a -o run_$(date +%F_%H%M%S)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Nahrajte KAŽDÝ beh misie. Nestojí to nič a je to váš dôkaz, keď sa niečo pokazí na cudzom počítači.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rviz2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Trajektórie, markery, point cloudy — publikujte si vlastnú plánovanú cestu ako Path/MarkerArray a porovnajte s odletenou.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rqt_graph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Kto s kým hovorí — uzly, topiky a smer toku dát.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PlotJuggler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Živé alebo zo záznamu — najrýchlejší spôsob, ako vidieť, či váš regulátor osciluje.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9" name="Text 2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20" name="Text 3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ROS 2 · SITL · MAVROS</a:t>
            </a:r>
          </a:p>
        </p:txBody>
      </p:sp>
      <p:sp>
        <p:nvSpPr>
          <p:cNvPr id="323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Časté problémy</a:t>
            </a:r>
          </a:p>
        </p:txBody>
      </p:sp>
      <p:graphicFrame>
        <p:nvGraphicFramePr>
          <p:cNvPr id="324" name="Table 0"/>
          <p:cNvGraphicFramePr/>
          <p:nvPr/>
        </p:nvGraphicFramePr>
        <p:xfrm>
          <a:off x="563879" y="1363621"/>
          <a:ext cx="11064241" cy="504063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06240"/>
                <a:gridCol w="685800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Príznak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Pozrite sa na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Callback sa nikdy nespustí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QoS mismatch (SensorDataQoS), alebo preklep v mene topiku — ros2 topic list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Build chyba pomenúva hlavičku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chýbajúci záznam v package.xml / CMakeLists.txt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Uzol zamrzne pri service call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spin_until_future_complete() volané z vnútra callbacku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Dron ignoruje časť setpointu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type_mask — ros2 interface show mavros_msgs/msg/PositionTarget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Dron nechce armovať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čítajte konzolu SITL — pomenuje presný pre-arm check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Trajektória zrkadlená / o 90° pootočená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ENU vs. NED — pozri slajd o konvenciách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Všetko sa sekundu-po-sekunde zadrháva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jednovláknový executor s pomalým callbackom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Dron nechce vzlietnuť po zaslaní príkazu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7233D"/>
                          </a:solidFill>
                        </a:rPr>
                        <a:t>Sledujte HEARTBEAT ±1Hz. Ak mate menej Autopilot môže ignorovať príkaz. Znižte rozlišenie počítača, zatvorte tasky ktoré nevyuživate. 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5" name="Text 2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26" name="Text 3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521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Shape 1"/>
          <p:cNvSpPr/>
          <p:nvPr/>
        </p:nvSpPr>
        <p:spPr>
          <a:xfrm>
            <a:off x="9692640" y="3017520"/>
            <a:ext cx="5029203" cy="5029203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Text 2"/>
          <p:cNvSpPr txBox="1"/>
          <p:nvPr/>
        </p:nvSpPr>
        <p:spPr>
          <a:xfrm>
            <a:off x="868680" y="2435861"/>
            <a:ext cx="2651762" cy="98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60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31" name="Text 3"/>
          <p:cNvSpPr txBox="1"/>
          <p:nvPr/>
        </p:nvSpPr>
        <p:spPr>
          <a:xfrm>
            <a:off x="868680" y="3404869"/>
            <a:ext cx="9509760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Zadanie 1</a:t>
            </a:r>
          </a:p>
        </p:txBody>
      </p:sp>
      <p:sp>
        <p:nvSpPr>
          <p:cNvPr id="332" name="Text 4"/>
          <p:cNvSpPr txBox="1"/>
          <p:nvPr/>
        </p:nvSpPr>
        <p:spPr>
          <a:xfrm>
            <a:off x="868680" y="4238824"/>
            <a:ext cx="90525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FE0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Autonómna misia — indoor + outdoor  ·  20 bodov</a:t>
            </a:r>
          </a:p>
        </p:txBody>
      </p:sp>
      <p:sp>
        <p:nvSpPr>
          <p:cNvPr id="333" name="Text 5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34" name="Text 6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521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Shape 1"/>
          <p:cNvSpPr/>
          <p:nvPr/>
        </p:nvSpPr>
        <p:spPr>
          <a:xfrm>
            <a:off x="9692640" y="3017520"/>
            <a:ext cx="5029203" cy="5029203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Text 2"/>
          <p:cNvSpPr txBox="1"/>
          <p:nvPr/>
        </p:nvSpPr>
        <p:spPr>
          <a:xfrm>
            <a:off x="1051559" y="1374096"/>
            <a:ext cx="2651762" cy="98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60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Setup</a:t>
            </a:r>
          </a:p>
        </p:txBody>
      </p:sp>
      <p:sp>
        <p:nvSpPr>
          <p:cNvPr id="339" name="Text 4"/>
          <p:cNvSpPr txBox="1"/>
          <p:nvPr/>
        </p:nvSpPr>
        <p:spPr>
          <a:xfrm>
            <a:off x="868680" y="3549651"/>
            <a:ext cx="9052560" cy="167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457200" indent="-317500" defTabSz="457200">
              <a:buClr>
                <a:srgbClr val="CFE0F5"/>
              </a:buClr>
              <a:buSzPct val="100000"/>
              <a:buFont typeface="Helvetica"/>
              <a:buChar char="•"/>
              <a:defRPr i="1" sz="2133">
                <a:solidFill>
                  <a:srgbClr val="CFE0F5"/>
                </a:solidFill>
              </a:defRPr>
            </a:pPr>
            <a:r>
              <a:rPr i="0"/>
              <a:t>USB kľúč (preferované) - heslo: </a:t>
            </a:r>
            <a:r>
              <a:rPr b="1" i="0"/>
              <a:t>lrsurk</a:t>
            </a:r>
            <a:r>
              <a:rPr i="0"/>
              <a:t>, </a:t>
            </a:r>
            <a:r>
              <a:t>(sudo apt update, upgrade, git clone LRS-URK)</a:t>
            </a:r>
            <a:r>
              <a:rPr b="1" i="0"/>
              <a:t> </a:t>
            </a:r>
            <a:endParaRPr i="0"/>
          </a:p>
          <a:p>
            <a:pPr marL="457200" indent="-317500" defTabSz="457200">
              <a:buClr>
                <a:srgbClr val="CFE0F5"/>
              </a:buClr>
              <a:buSzPct val="100000"/>
              <a:buFont typeface="Helvetica"/>
              <a:buChar char="•"/>
              <a:defRPr sz="2133">
                <a:solidFill>
                  <a:srgbClr val="CFE0F5"/>
                </a:solidFill>
              </a:defRPr>
            </a:pPr>
            <a:r>
              <a:t>Install script - LRS-URK/scripts/install.sh</a:t>
            </a:r>
          </a:p>
          <a:p>
            <a:pPr marL="457200" indent="-317500" defTabSz="457200">
              <a:buClr>
                <a:srgbClr val="CFE0F5"/>
              </a:buClr>
              <a:buSzPct val="100000"/>
              <a:buFont typeface="Helvetica"/>
              <a:buChar char="•"/>
              <a:defRPr sz="2133">
                <a:solidFill>
                  <a:srgbClr val="CFE0F5"/>
                </a:solidFill>
              </a:defRPr>
            </a:pPr>
            <a:r>
              <a:t>DIY - GLHF (nepodporované)</a:t>
            </a:r>
          </a:p>
          <a:p>
            <a:pPr marL="457200" indent="-317500" defTabSz="457200">
              <a:buClr>
                <a:srgbClr val="CFE0F5"/>
              </a:buClr>
              <a:buSzPct val="100000"/>
              <a:buFont typeface="Helvetica"/>
              <a:buChar char="•"/>
              <a:defRPr sz="2133">
                <a:solidFill>
                  <a:srgbClr val="CFE0F5"/>
                </a:solidFill>
              </a:defRPr>
            </a:pPr>
            <a:r>
              <a:t>Run $ sudo apt update &amp;&amp; sudo apt upgrade </a:t>
            </a:r>
          </a:p>
        </p:txBody>
      </p:sp>
      <p:sp>
        <p:nvSpPr>
          <p:cNvPr id="340" name="Text 5"/>
          <p:cNvSpPr txBox="1"/>
          <p:nvPr/>
        </p:nvSpPr>
        <p:spPr>
          <a:xfrm>
            <a:off x="594359" y="6423704"/>
            <a:ext cx="356616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41" name="Text 6"/>
          <p:cNvSpPr txBox="1"/>
          <p:nvPr/>
        </p:nvSpPr>
        <p:spPr>
          <a:xfrm>
            <a:off x="11414453" y="6423704"/>
            <a:ext cx="4572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</a:t>
            </a:r>
          </a:p>
        </p:txBody>
      </p:sp>
      <p:sp>
        <p:nvSpPr>
          <p:cNvPr id="344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Cieľ a štruktúra</a:t>
            </a:r>
          </a:p>
        </p:txBody>
      </p:sp>
      <p:sp>
        <p:nvSpPr>
          <p:cNvPr id="345" name="Text 2"/>
          <p:cNvSpPr txBox="1"/>
          <p:nvPr/>
        </p:nvSpPr>
        <p:spPr>
          <a:xfrm>
            <a:off x="594359" y="1600201"/>
            <a:ext cx="10972801" cy="847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Jeden </a:t>
            </a:r>
            <a:r>
              <a:rPr b="1">
                <a:solidFill>
                  <a:srgbClr val="065A82"/>
                </a:solidFill>
              </a:rPr>
              <a:t>ROS 2 balík</a:t>
            </a:r>
            <a:r>
              <a:t>, ktorý autonómne lieta dronom v dvoch prostrediach: </a:t>
            </a:r>
            <a:r>
              <a:rPr b="1">
                <a:solidFill>
                  <a:srgbClr val="000000"/>
                </a:solidFill>
              </a:rPr>
              <a:t>indoor</a:t>
            </a:r>
            <a:r>
              <a:t> (hangár FEI, 3D mapa + waypointy s úlohami) a </a:t>
            </a:r>
            <a:r>
              <a:rPr b="1">
                <a:solidFill>
                  <a:srgbClr val="000000"/>
                </a:solidFill>
              </a:rPr>
              <a:t>outdoor</a:t>
            </a:r>
            <a:r>
              <a:t> (GPS + kompas, geometrická misia). Outdoor časť beží aj na </a:t>
            </a:r>
            <a:r>
              <a:rPr b="1">
                <a:solidFill>
                  <a:srgbClr val="C2432B"/>
                </a:solidFill>
              </a:rPr>
              <a:t>reálnom dróne</a:t>
            </a:r>
            <a:r>
              <a:t> — je to jeden program, nie dva samostatné projekty; outdoor znova používa váš riadiaci uzol, stavový automat aj position controller.</a:t>
            </a:r>
          </a:p>
        </p:txBody>
      </p:sp>
      <p:graphicFrame>
        <p:nvGraphicFramePr>
          <p:cNvPr id="346" name="Table 0"/>
          <p:cNvGraphicFramePr/>
          <p:nvPr/>
        </p:nvGraphicFramePr>
        <p:xfrm>
          <a:off x="548640" y="2926078"/>
          <a:ext cx="7315201" cy="28346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14400"/>
                <a:gridCol w="530352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Podzadanie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Body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A1.1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Mapovanie a plánovanie trajektórie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5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A1.2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Vykonanie misie — indoor let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6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A1.3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Outdoor misia — GPS, kompas, figure-8   ·  NOVÉ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7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A1.4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Dokumentácia a obhajoba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7233D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7" name="Shape 3"/>
          <p:cNvSpPr/>
          <p:nvPr/>
        </p:nvSpPr>
        <p:spPr>
          <a:xfrm>
            <a:off x="8138159" y="2926078"/>
            <a:ext cx="3474721" cy="2834642"/>
          </a:xfrm>
          <a:prstGeom prst="roundRect">
            <a:avLst>
              <a:gd name="adj" fmla="val 2581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Text 4"/>
          <p:cNvSpPr txBox="1"/>
          <p:nvPr/>
        </p:nvSpPr>
        <p:spPr>
          <a:xfrm>
            <a:off x="8183878" y="3177539"/>
            <a:ext cx="3383282" cy="7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46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349" name="Text 5"/>
          <p:cNvSpPr txBox="1"/>
          <p:nvPr/>
        </p:nvSpPr>
        <p:spPr>
          <a:xfrm>
            <a:off x="8183878" y="4031420"/>
            <a:ext cx="338328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bodov spolu</a:t>
            </a:r>
          </a:p>
        </p:txBody>
      </p:sp>
      <p:sp>
        <p:nvSpPr>
          <p:cNvPr id="350" name="Text 6"/>
          <p:cNvSpPr txBox="1"/>
          <p:nvPr/>
        </p:nvSpPr>
        <p:spPr>
          <a:xfrm>
            <a:off x="8412478" y="4434841"/>
            <a:ext cx="2926082" cy="478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25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Dá sa odovzdávať a obhajovať priebežne — nečakajte na 6. týždeň.</a:t>
            </a:r>
          </a:p>
        </p:txBody>
      </p:sp>
      <p:sp>
        <p:nvSpPr>
          <p:cNvPr id="351" name="Text 7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52" name="Text 8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</a:t>
            </a:r>
          </a:p>
        </p:txBody>
      </p:sp>
      <p:sp>
        <p:nvSpPr>
          <p:cNvPr id="355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Príklad misie (indoor)</a:t>
            </a:r>
          </a:p>
        </p:txBody>
      </p:sp>
      <p:sp>
        <p:nvSpPr>
          <p:cNvPr id="356" name="Text 2"/>
          <p:cNvSpPr txBox="1"/>
          <p:nvPr/>
        </p:nvSpPr>
        <p:spPr>
          <a:xfrm>
            <a:off x="594359" y="1722560"/>
            <a:ext cx="1097280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Misia je zoznam waypointov, každý s presnosťou a úlohou. Toto sú CIEĽOVÉ body, nie letová trajektória — tú medzi nimi nájde váš planner z A1.1.</a:t>
            </a:r>
          </a:p>
        </p:txBody>
      </p:sp>
      <p:graphicFrame>
        <p:nvGraphicFramePr>
          <p:cNvPr id="357" name="Table 0"/>
          <p:cNvGraphicFramePr/>
          <p:nvPr/>
        </p:nvGraphicFramePr>
        <p:xfrm>
          <a:off x="548640" y="2286000"/>
          <a:ext cx="11064241" cy="310896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31520"/>
                <a:gridCol w="1737360"/>
                <a:gridCol w="1737360"/>
                <a:gridCol w="1737360"/>
                <a:gridCol w="2103120"/>
                <a:gridCol w="30175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y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presnosť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úloha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13.00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1.50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1.00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soft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takeoff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8.65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2.02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1.00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soft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4.84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5.37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2.00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hard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yaw180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2.08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9.74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1.75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hard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—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5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8.84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6.90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2.00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hard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landtakeoff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6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2.81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8.15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1.50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soft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yaw90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7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13.60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1.50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2.00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hard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7233D"/>
                          </a:solidFill>
                        </a:rPr>
                        <a:t>land</a:t>
                      </a:r>
                    </a:p>
                  </a:txBody>
                  <a:tcPr marL="50800" marR="50800" marT="50800" marB="50800" anchor="t" anchorCtr="0" horzOverflow="overflow">
                    <a:lnL w="7620">
                      <a:solidFill>
                        <a:srgbClr val="DCE4EF"/>
                      </a:solidFill>
                    </a:lnL>
                    <a:lnR w="7620">
                      <a:solidFill>
                        <a:srgbClr val="DCE4EF"/>
                      </a:solidFill>
                    </a:lnR>
                    <a:lnT w="7620">
                      <a:solidFill>
                        <a:srgbClr val="DCE4EF"/>
                      </a:solidFill>
                    </a:lnT>
                    <a:lnB w="7620">
                      <a:solidFill>
                        <a:srgbClr val="DCE4EF"/>
                      </a:solidFill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358" name="Text 3"/>
          <p:cNvSpPr txBox="1"/>
          <p:nvPr/>
        </p:nvSpPr>
        <p:spPr>
          <a:xfrm>
            <a:off x="594359" y="5636568"/>
            <a:ext cx="1097280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2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Na obhajobe dostanete misijný súbor, ktorý ste ešte nevideli — v tomto formáte.</a:t>
            </a:r>
          </a:p>
        </p:txBody>
      </p:sp>
      <p:sp>
        <p:nvSpPr>
          <p:cNvPr id="359" name="Text 4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60" name="Text 5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A1.1</a:t>
            </a:r>
          </a:p>
        </p:txBody>
      </p:sp>
      <p:sp>
        <p:nvSpPr>
          <p:cNvPr id="363" name="Text 1"/>
          <p:cNvSpPr txBox="1"/>
          <p:nvPr/>
        </p:nvSpPr>
        <p:spPr>
          <a:xfrm>
            <a:off x="594359" y="820928"/>
            <a:ext cx="10515601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Mapovanie a plánovanie trajektórie</a:t>
            </a:r>
          </a:p>
        </p:txBody>
      </p:sp>
      <p:sp>
        <p:nvSpPr>
          <p:cNvPr id="364" name="Shape 2"/>
          <p:cNvSpPr/>
          <p:nvPr/>
        </p:nvSpPr>
        <p:spPr>
          <a:xfrm>
            <a:off x="10881359" y="777240"/>
            <a:ext cx="502923" cy="502923"/>
          </a:xfrm>
          <a:prstGeom prst="ellipse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Text 3"/>
          <p:cNvSpPr txBox="1"/>
          <p:nvPr/>
        </p:nvSpPr>
        <p:spPr>
          <a:xfrm>
            <a:off x="10927078" y="862329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5b</a:t>
            </a:r>
          </a:p>
        </p:txBody>
      </p:sp>
      <p:sp>
        <p:nvSpPr>
          <p:cNvPr id="366" name="Text 4"/>
          <p:cNvSpPr txBox="1"/>
          <p:nvPr/>
        </p:nvSpPr>
        <p:spPr>
          <a:xfrm>
            <a:off x="594359" y="1554480"/>
            <a:ext cx="5394962" cy="313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Mapa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point cloud hangáru (.pcd) → voxel grid / octree, s inflated prekážkami (konfigurovateľný bezpečnostný polomer)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300">
                <a:solidFill>
                  <a:srgbClr val="C2432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Regály sú SOLÍDNE prekážky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vizuálne vyzerajú priehľadne, ale kolízia je jeden pevný box — plánovač musí obísť, nikdy nepreletieť cez regal (sú tam boxy)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Plánovanie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pokročilý 3D algoritmus — A*, RRT/RRT* — nie 2D vrstvy, nie plain BFS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3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Očistenie trajektórie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odstránenie nadbytočných bodov (kolineárne, line-of-sight, spline) — menej bodov = plynulejší let v A1.2</a:t>
            </a:r>
          </a:p>
        </p:txBody>
      </p:sp>
      <p:pic>
        <p:nvPicPr>
          <p:cNvPr id="36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09359" y="1691638"/>
            <a:ext cx="3931921" cy="1965962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Text 5"/>
          <p:cNvSpPr txBox="1"/>
          <p:nvPr/>
        </p:nvSpPr>
        <p:spPr>
          <a:xfrm>
            <a:off x="6355079" y="3707937"/>
            <a:ext cx="53949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Inflácia prekážok o bezpečnostný polomer</a:t>
            </a:r>
          </a:p>
        </p:txBody>
      </p:sp>
      <p:sp>
        <p:nvSpPr>
          <p:cNvPr id="369" name="Text 6"/>
          <p:cNvSpPr txBox="1"/>
          <p:nvPr/>
        </p:nvSpPr>
        <p:spPr>
          <a:xfrm>
            <a:off x="6355079" y="6170286"/>
            <a:ext cx="53949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Očistenie trajektórie — pred a po</a:t>
            </a:r>
          </a:p>
        </p:txBody>
      </p:sp>
      <p:sp>
        <p:nvSpPr>
          <p:cNvPr id="370" name="Text 7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71" name="Text 8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36</a:t>
            </a:r>
          </a:p>
        </p:txBody>
      </p:sp>
      <p:pic>
        <p:nvPicPr>
          <p:cNvPr id="37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0730" y="3594105"/>
            <a:ext cx="4673531" cy="2551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A1.2</a:t>
            </a:r>
          </a:p>
        </p:txBody>
      </p:sp>
      <p:sp>
        <p:nvSpPr>
          <p:cNvPr id="375" name="Text 1"/>
          <p:cNvSpPr txBox="1"/>
          <p:nvPr/>
        </p:nvSpPr>
        <p:spPr>
          <a:xfrm>
            <a:off x="594359" y="820928"/>
            <a:ext cx="10515601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Vykonanie misie — indoor let</a:t>
            </a:r>
          </a:p>
        </p:txBody>
      </p:sp>
      <p:sp>
        <p:nvSpPr>
          <p:cNvPr id="376" name="Shape 2"/>
          <p:cNvSpPr/>
          <p:nvPr/>
        </p:nvSpPr>
        <p:spPr>
          <a:xfrm>
            <a:off x="10881359" y="777240"/>
            <a:ext cx="502923" cy="502923"/>
          </a:xfrm>
          <a:prstGeom prst="ellipse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7" name="Text 3"/>
          <p:cNvSpPr txBox="1"/>
          <p:nvPr/>
        </p:nvSpPr>
        <p:spPr>
          <a:xfrm>
            <a:off x="10927078" y="862329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6b</a:t>
            </a:r>
          </a:p>
        </p:txBody>
      </p:sp>
      <p:sp>
        <p:nvSpPr>
          <p:cNvPr id="378" name="Shape 4"/>
          <p:cNvSpPr/>
          <p:nvPr/>
        </p:nvSpPr>
        <p:spPr>
          <a:xfrm>
            <a:off x="548640" y="1600200"/>
            <a:ext cx="5349241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9" name="Text 5"/>
          <p:cNvSpPr txBox="1"/>
          <p:nvPr/>
        </p:nvSpPr>
        <p:spPr>
          <a:xfrm>
            <a:off x="868680" y="1753869"/>
            <a:ext cx="4754880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Riadiaci uzol</a:t>
            </a:r>
          </a:p>
        </p:txBody>
      </p:sp>
      <p:sp>
        <p:nvSpPr>
          <p:cNvPr id="380" name="Text 6"/>
          <p:cNvSpPr txBox="1"/>
          <p:nvPr/>
        </p:nvSpPr>
        <p:spPr>
          <a:xfrm>
            <a:off x="868680" y="2148839"/>
            <a:ext cx="4754880" cy="1915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Stavový automat: IDLE → SET_MODE → ARM → TAKEOFF → NAVIGATE → TASK → … → LAND → DONE (logovaný)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Počká na /mavros/state == connected, nastaví GUIDED, armuje — a KONTROLUJE odpovede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Setpointy stále na 10–20 Hz, nie jeden za waypoint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Príkazy: takeoff · land · landtakeoff (po pristátí ArduPilot môže disarmnúť — treba re-arm!) · yaw &lt;uhol&gt;</a:t>
            </a:r>
          </a:p>
        </p:txBody>
      </p:sp>
      <p:sp>
        <p:nvSpPr>
          <p:cNvPr id="381" name="Shape 7"/>
          <p:cNvSpPr/>
          <p:nvPr/>
        </p:nvSpPr>
        <p:spPr>
          <a:xfrm>
            <a:off x="6080759" y="1600200"/>
            <a:ext cx="5349241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2" name="Text 8"/>
          <p:cNvSpPr txBox="1"/>
          <p:nvPr/>
        </p:nvSpPr>
        <p:spPr>
          <a:xfrm>
            <a:off x="6400800" y="1753869"/>
            <a:ext cx="4754880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Presnosť: soft vs. hard</a:t>
            </a:r>
          </a:p>
        </p:txBody>
      </p:sp>
      <p:sp>
        <p:nvSpPr>
          <p:cNvPr id="383" name="Text 9"/>
          <p:cNvSpPr txBox="1"/>
          <p:nvPr/>
        </p:nvSpPr>
        <p:spPr>
          <a:xfrm>
            <a:off x="6400800" y="2148839"/>
            <a:ext cx="4754880" cy="2989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hard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tesná tolerancia — dron sa musí naozaj zastaviť a ustáliť (~10–20 cm v simulácii)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soft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voľná tolerancia — preletí bez zastavenia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200">
                <a:solidFill>
                  <a:srgbClr val="C2432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Pasca: waypointy ≠ body dráhy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presnosť majú len misijné waypointy; medziľahlé body z plánovača sú priechodné — veľký polomer, nikdy nulová rýchlosť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b="1" sz="1200">
                <a:solidFill>
                  <a:srgbClr val="065A8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Predvolený smer nosa = smer letu</a:t>
            </a:r>
          </a:p>
          <a:p>
            <a:pPr lvl="1" marL="457200" indent="-228600">
              <a:lnSpc>
                <a:spcPct val="108000"/>
              </a:lnSpc>
              <a:spcBef>
                <a:spcPts val="800"/>
              </a:spcBef>
              <a:buSzPct val="100000"/>
              <a:buChar char="–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yaw úloha platí len na danom bode, potom späť na smer ďalšieho segmentu (atan2, rozbaliť uhol)</a:t>
            </a:r>
          </a:p>
        </p:txBody>
      </p:sp>
      <p:sp>
        <p:nvSpPr>
          <p:cNvPr id="384" name="Text 10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85" name="Text 11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A9C7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A1.2</a:t>
            </a:r>
          </a:p>
        </p:txBody>
      </p:sp>
      <p:sp>
        <p:nvSpPr>
          <p:cNvPr id="38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Video — indoor misia</a:t>
            </a:r>
          </a:p>
        </p:txBody>
      </p:sp>
      <p:sp>
        <p:nvSpPr>
          <p:cNvPr id="389" name="Text 6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390" name="Text 7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38</a:t>
            </a:r>
          </a:p>
        </p:txBody>
      </p:sp>
      <p:pic>
        <p:nvPicPr>
          <p:cNvPr id="391" name="indoor_mission.mp4" descr="indoor_mission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1883205" y="1471475"/>
            <a:ext cx="8425591" cy="47393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275" fill="hold"/>
                                        <p:tgtEl>
                                          <p:spTgt spid="3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mediacall" nodeType="clickEffect" presetSubtype="0" presetID="3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0" dur="1000" fill="hold"/>
                                        <p:tgtEl>
                                          <p:spTgt spid="3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11" fill="hold" display="0">
                  <p:stCondLst>
                    <p:cond delay="indefinite"/>
                  </p:stCondLst>
                </p:cTn>
                <p:tgtEl>
                  <p:spTgt spid="391"/>
                </p:tgtEl>
              </p:cMediaNode>
            </p:video>
            <p:seq concurrent="1" prevAc="none" nextAc="seek">
              <p:cTn id="12" evtFilter="cancelBubble" nodeType="interactiveSeq" restart="whenNotActive" fill="hold">
                <p:stCondLst>
                  <p:cond delay="0" evt="onClick">
                    <p:tgtEl>
                      <p:spTgt spid="39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91"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A1.3  ·  NOVÉ</a:t>
            </a:r>
          </a:p>
        </p:txBody>
      </p:sp>
      <p:sp>
        <p:nvSpPr>
          <p:cNvPr id="394" name="Text 1"/>
          <p:cNvSpPr txBox="1"/>
          <p:nvPr/>
        </p:nvSpPr>
        <p:spPr>
          <a:xfrm>
            <a:off x="594359" y="820928"/>
            <a:ext cx="10515601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Outdoor misia — GPS a kompas</a:t>
            </a:r>
          </a:p>
        </p:txBody>
      </p:sp>
      <p:sp>
        <p:nvSpPr>
          <p:cNvPr id="395" name="Shape 2"/>
          <p:cNvSpPr/>
          <p:nvPr/>
        </p:nvSpPr>
        <p:spPr>
          <a:xfrm>
            <a:off x="10881359" y="777240"/>
            <a:ext cx="502923" cy="502923"/>
          </a:xfrm>
          <a:prstGeom prst="ellipse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6" name="Text 3"/>
          <p:cNvSpPr txBox="1"/>
          <p:nvPr/>
        </p:nvSpPr>
        <p:spPr>
          <a:xfrm>
            <a:off x="10927078" y="862329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7b</a:t>
            </a:r>
          </a:p>
        </p:txBody>
      </p:sp>
      <p:sp>
        <p:nvSpPr>
          <p:cNvPr id="397" name="Text 4"/>
          <p:cNvSpPr txBox="1"/>
          <p:nvPr/>
        </p:nvSpPr>
        <p:spPr>
          <a:xfrm>
            <a:off x="594359" y="1635691"/>
            <a:ext cx="1097280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Vonku dostávate GPS a magnetický kompas namiesto dokonalej lokálnej polohy zo simulátora — a táto časť lieta aj na reálnom dróne.</a:t>
            </a:r>
          </a:p>
        </p:txBody>
      </p:sp>
      <p:sp>
        <p:nvSpPr>
          <p:cNvPr id="398" name="Shape 5"/>
          <p:cNvSpPr/>
          <p:nvPr/>
        </p:nvSpPr>
        <p:spPr>
          <a:xfrm>
            <a:off x="548640" y="2103120"/>
            <a:ext cx="6035041" cy="4206242"/>
          </a:xfrm>
          <a:prstGeom prst="roundRect">
            <a:avLst>
              <a:gd name="adj" fmla="val 1739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9" name="Text 6"/>
          <p:cNvSpPr txBox="1"/>
          <p:nvPr/>
        </p:nvSpPr>
        <p:spPr>
          <a:xfrm>
            <a:off x="868679" y="2246629"/>
            <a:ext cx="5394962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Misia</a:t>
            </a:r>
          </a:p>
        </p:txBody>
      </p:sp>
      <p:sp>
        <p:nvSpPr>
          <p:cNvPr id="400" name="Text 7"/>
          <p:cNvSpPr txBox="1"/>
          <p:nvPr/>
        </p:nvSpPr>
        <p:spPr>
          <a:xfrm>
            <a:off x="868679" y="2606040"/>
            <a:ext cx="5394962" cy="166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Vzlet na 5 m nad bodom štartu, stabilizácia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Štvorec so stranou 5 m — nos stále mieri na pevný bod záujmu (POI) na zemi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Figure-8 (6 × 3 m) okolo POI — kontinuálna trajektória z časovača, NIE zoznam waypointov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Natočenie podľa dotyčnice trajektórie (tangent heading)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Návrat na štart, bezpečné pristátie</a:t>
            </a:r>
          </a:p>
        </p:txBody>
      </p:sp>
      <p:sp>
        <p:nvSpPr>
          <p:cNvPr id="401" name="Shape 8"/>
          <p:cNvSpPr/>
          <p:nvPr/>
        </p:nvSpPr>
        <p:spPr>
          <a:xfrm>
            <a:off x="6766559" y="2103120"/>
            <a:ext cx="4892041" cy="4206242"/>
          </a:xfrm>
          <a:prstGeom prst="roundRect">
            <a:avLst>
              <a:gd name="adj" fmla="val 1739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2" name="Text 9"/>
          <p:cNvSpPr txBox="1"/>
          <p:nvPr/>
        </p:nvSpPr>
        <p:spPr>
          <a:xfrm>
            <a:off x="7086599" y="2246629"/>
            <a:ext cx="4389122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Kľúčové vzorce</a:t>
            </a:r>
          </a:p>
        </p:txBody>
      </p:sp>
      <p:sp>
        <p:nvSpPr>
          <p:cNvPr id="403" name="Text 10"/>
          <p:cNvSpPr txBox="1"/>
          <p:nvPr/>
        </p:nvSpPr>
        <p:spPr>
          <a:xfrm>
            <a:off x="7086599" y="2651761"/>
            <a:ext cx="4389122" cy="1502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b="1" sz="13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x(t) = A·sin(t)</a:t>
            </a:r>
          </a:p>
          <a:p>
            <a:pPr>
              <a:lnSpc>
                <a:spcPct val="130000"/>
              </a:lnSpc>
              <a:defRPr b="1" sz="13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y(t) = A·sin(t)·cos(t)</a:t>
            </a:r>
          </a:p>
          <a:p>
            <a:pPr>
              <a:lnSpc>
                <a:spcPct val="130000"/>
              </a:lnSpc>
              <a:defRPr sz="13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30000"/>
              </a:lnSpc>
              <a:defRPr b="1" sz="12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yaw(t) = atan2(ẏ, ẋ)   — rozbaliť!</a:t>
            </a:r>
            <a:endParaRPr sz="1300"/>
          </a:p>
          <a:p>
            <a:pPr>
              <a:lnSpc>
                <a:spcPct val="130000"/>
              </a:lnSpc>
              <a:defRPr sz="13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30000"/>
              </a:lnSpc>
              <a:defRPr b="1" sz="12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yaw_ENU = 90° − heading_kompas</a:t>
            </a:r>
          </a:p>
        </p:txBody>
      </p:sp>
      <p:sp>
        <p:nvSpPr>
          <p:cNvPr id="404" name="Text 11"/>
          <p:cNvSpPr txBox="1"/>
          <p:nvPr/>
        </p:nvSpPr>
        <p:spPr>
          <a:xfrm>
            <a:off x="7086599" y="4343401"/>
            <a:ext cx="4389122" cy="95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 = 3 m, S = 5 m, výška 5 m — pevné; ω je váš parameter (napr. ω ≈ 0.35 rad/s pri limite 1.5 m/s)</a:t>
            </a:r>
          </a:p>
          <a:p>
            <a:pPr marL="342900" indent="-342900">
              <a:lnSpc>
                <a:spcPct val="108000"/>
              </a:lnSpc>
              <a:spcBef>
                <a:spcPts val="8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Home/EKF origin sa mení pri každom spustení — žiadna súradnica naharkódovaná</a:t>
            </a:r>
          </a:p>
        </p:txBody>
      </p:sp>
      <p:sp>
        <p:nvSpPr>
          <p:cNvPr id="405" name="Text 12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06" name="Text 13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A1.3</a:t>
            </a:r>
          </a:p>
        </p:txBody>
      </p:sp>
      <p:sp>
        <p:nvSpPr>
          <p:cNvPr id="409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Pred-letová kontrola pre reálny dron</a:t>
            </a:r>
          </a:p>
        </p:txBody>
      </p:sp>
      <p:sp>
        <p:nvSpPr>
          <p:cNvPr id="410" name="Text 2"/>
          <p:cNvSpPr txBox="1"/>
          <p:nvPr/>
        </p:nvSpPr>
        <p:spPr>
          <a:xfrm>
            <a:off x="594358" y="1691639"/>
            <a:ext cx="5303523" cy="104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Kompletná misia lieta v simulácii, bez zásahu, dvakrát za sebou</a:t>
            </a:r>
          </a:p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Žiadne naharkódované absolútne súradnice — všetko relatívne k home</a:t>
            </a:r>
          </a:p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Uzol počká na kvalitný GPS fix a odmieta armovať bez neho</a:t>
            </a:r>
          </a:p>
        </p:txBody>
      </p:sp>
      <p:sp>
        <p:nvSpPr>
          <p:cNvPr id="411" name="Text 3"/>
          <p:cNvSpPr txBox="1"/>
          <p:nvPr/>
        </p:nvSpPr>
        <p:spPr>
          <a:xfrm>
            <a:off x="6263638" y="1691640"/>
            <a:ext cx="5303523" cy="1263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Geofence: max. vzdialenosť od home a max. výška spočítané a v limitoch (~3.5 m horizontálne, 5 m vertikálne)</a:t>
            </a:r>
          </a:p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Abort/failsafe cesta funguje a je odskúšaná v simulácii</a:t>
            </a:r>
          </a:p>
          <a:p>
            <a:pPr marL="342900" indent="-342900">
              <a:lnSpc>
                <a:spcPct val="108000"/>
              </a:lnSpc>
              <a:spcBef>
                <a:spcPts val="1400"/>
              </a:spcBef>
              <a:buSzPct val="100000"/>
              <a:buChar char="▪"/>
              <a:defRPr sz="13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Konvencia kompasu overená, nie predpokladaná</a:t>
            </a:r>
          </a:p>
        </p:txBody>
      </p:sp>
      <p:sp>
        <p:nvSpPr>
          <p:cNvPr id="412" name="Shape 4"/>
          <p:cNvSpPr/>
          <p:nvPr/>
        </p:nvSpPr>
        <p:spPr>
          <a:xfrm>
            <a:off x="548640" y="4892040"/>
            <a:ext cx="11064241" cy="1417322"/>
          </a:xfrm>
          <a:prstGeom prst="roundRect">
            <a:avLst>
              <a:gd name="adj" fmla="val 5161"/>
            </a:avLst>
          </a:prstGeom>
          <a:solidFill>
            <a:srgbClr val="FBEDEA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3" name="Text 5"/>
          <p:cNvSpPr txBox="1"/>
          <p:nvPr/>
        </p:nvSpPr>
        <p:spPr>
          <a:xfrm>
            <a:off x="868680" y="5349153"/>
            <a:ext cx="10424160" cy="503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5000"/>
              </a:lnSpc>
              <a:defRPr b="1" sz="1300">
                <a:solidFill>
                  <a:srgbClr val="C2432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Vždy s učiteľom prítomným a bezpečnostným pilotom s RC vysielačom, ktorý môže kedykoľvek prevziať riadenie. </a:t>
            </a:r>
            <a:r>
              <a:rPr b="0">
                <a:solidFill>
                  <a:srgbClr val="17233D"/>
                </a:solidFill>
              </a:rPr>
              <a:t>Nikdy nezapínajte reálne zariadenie bez učiteľa. Podmienky odomknutia sú na slajde „Lietanie na reálnom UAV" v 1. kapitole.</a:t>
            </a:r>
          </a:p>
        </p:txBody>
      </p:sp>
      <p:sp>
        <p:nvSpPr>
          <p:cNvPr id="414" name="Text 6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15" name="Text 7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A9C7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A1.3</a:t>
            </a:r>
          </a:p>
        </p:txBody>
      </p:sp>
      <p:sp>
        <p:nvSpPr>
          <p:cNvPr id="418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Video — outdoor misia</a:t>
            </a:r>
          </a:p>
        </p:txBody>
      </p:sp>
      <p:pic>
        <p:nvPicPr>
          <p:cNvPr id="419" name="Media 0" descr="Media 0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1737360" y="1600200"/>
            <a:ext cx="8732520" cy="4910329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Text 2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7C8C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21" name="Text 3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5129" fill="hold"/>
                                        <p:tgtEl>
                                          <p:spTgt spid="4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mediacall" nodeType="clickEffect" presetSubtype="0" presetID="3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0" dur="1000" fill="hold"/>
                                        <p:tgtEl>
                                          <p:spTgt spid="4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11" fill="hold" display="0">
                  <p:stCondLst>
                    <p:cond delay="indefinite"/>
                  </p:stCondLst>
                </p:cTn>
                <p:tgtEl>
                  <p:spTgt spid="419"/>
                </p:tgtEl>
              </p:cMediaNode>
            </p:video>
            <p:seq concurrent="1" prevAc="none" nextAc="seek">
              <p:cTn id="12" evtFilter="cancelBubble" nodeType="interactiveSeq" restart="whenNotActive" fill="hold">
                <p:stCondLst>
                  <p:cond delay="0" evt="onClick">
                    <p:tgtEl>
                      <p:spTgt spid="41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19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 · A1.4</a:t>
            </a:r>
          </a:p>
        </p:txBody>
      </p:sp>
      <p:sp>
        <p:nvSpPr>
          <p:cNvPr id="424" name="Text 1"/>
          <p:cNvSpPr txBox="1"/>
          <p:nvPr/>
        </p:nvSpPr>
        <p:spPr>
          <a:xfrm>
            <a:off x="594359" y="820928"/>
            <a:ext cx="10515601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7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Dokumentácia a obhajoba</a:t>
            </a:r>
          </a:p>
        </p:txBody>
      </p:sp>
      <p:sp>
        <p:nvSpPr>
          <p:cNvPr id="425" name="Shape 2"/>
          <p:cNvSpPr/>
          <p:nvPr/>
        </p:nvSpPr>
        <p:spPr>
          <a:xfrm>
            <a:off x="10881359" y="777240"/>
            <a:ext cx="502923" cy="502923"/>
          </a:xfrm>
          <a:prstGeom prst="ellipse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Text 3"/>
          <p:cNvSpPr txBox="1"/>
          <p:nvPr/>
        </p:nvSpPr>
        <p:spPr>
          <a:xfrm>
            <a:off x="10927078" y="862329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2b</a:t>
            </a:r>
          </a:p>
        </p:txBody>
      </p:sp>
      <p:sp>
        <p:nvSpPr>
          <p:cNvPr id="427" name="Shape 4"/>
          <p:cNvSpPr/>
          <p:nvPr/>
        </p:nvSpPr>
        <p:spPr>
          <a:xfrm>
            <a:off x="548640" y="1600200"/>
            <a:ext cx="5349241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Text 5"/>
          <p:cNvSpPr txBox="1"/>
          <p:nvPr/>
        </p:nvSpPr>
        <p:spPr>
          <a:xfrm>
            <a:off x="868680" y="1753869"/>
            <a:ext cx="4754880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Analýza prístupov</a:t>
            </a:r>
          </a:p>
        </p:txBody>
      </p:sp>
      <p:sp>
        <p:nvSpPr>
          <p:cNvPr id="429" name="Text 6"/>
          <p:cNvSpPr txBox="1"/>
          <p:nvPr/>
        </p:nvSpPr>
        <p:spPr>
          <a:xfrm>
            <a:off x="868680" y="2148839"/>
            <a:ext cx="4754880" cy="1670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 každé významné rozhodnutie: čo ste zvolili, ako to funguje, prečo práve toto, a AKÉ SÚ NEVÝHODY.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Povinne pokryté: reprezentácia mapy, inflácia, plánovací algoritmus, post-processing, tolerancie, heading policy, geodetická konverzia, konvencie uhlov, parametre figure-8.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1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Nefunkčná časť? Napíšte to — čestná sekcia limitov skóruje, predstieraná dokonalosť nie.</a:t>
            </a:r>
          </a:p>
        </p:txBody>
      </p:sp>
      <p:sp>
        <p:nvSpPr>
          <p:cNvPr id="430" name="Shape 7"/>
          <p:cNvSpPr/>
          <p:nvPr/>
        </p:nvSpPr>
        <p:spPr>
          <a:xfrm>
            <a:off x="6080759" y="1600200"/>
            <a:ext cx="5349241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>
            <a:solidFill>
              <a:srgbClr val="DCE4EF"/>
            </a:solidFill>
          </a:ln>
          <a:effectLst>
            <a:outerShdw sx="100000" sy="100000" kx="0" ky="0" algn="b" rotWithShape="0" blurRad="76200" dist="25400" dir="5400000">
              <a:srgbClr val="203A5C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Text 8"/>
          <p:cNvSpPr txBox="1"/>
          <p:nvPr/>
        </p:nvSpPr>
        <p:spPr>
          <a:xfrm>
            <a:off x="6400800" y="1753869"/>
            <a:ext cx="4754880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Diagramy a obhajoba</a:t>
            </a:r>
          </a:p>
        </p:txBody>
      </p:sp>
      <p:sp>
        <p:nvSpPr>
          <p:cNvPr id="432" name="Text 9"/>
          <p:cNvSpPr txBox="1"/>
          <p:nvPr/>
        </p:nvSpPr>
        <p:spPr>
          <a:xfrm>
            <a:off x="6400800" y="2148839"/>
            <a:ext cx="4754880" cy="1517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Aspoň dva diagramy: tok spracovania dát (mapa/misia → plánovanie → setpointy) a ROS diagram (uzly, topiky, callback groups)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Na obhajobe: spustíte misiu z čistého checkoutu, vysvetlíte kód, urobíte malú zmenu na požiadanie (napr. iný polomer inflácie)</a:t>
            </a:r>
          </a:p>
          <a:p>
            <a:pPr marL="342900" indent="-342900">
              <a:lnSpc>
                <a:spcPct val="108000"/>
              </a:lnSpc>
              <a:spcBef>
                <a:spcPts val="1000"/>
              </a:spcBef>
              <a:buSzPct val="100000"/>
              <a:buChar char="▪"/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Tímová práca: obhajuje SA KAŽDÝ ČLEN samostatne — musí vedieť vysvetliť celé riešenie</a:t>
            </a:r>
          </a:p>
        </p:txBody>
      </p:sp>
      <p:sp>
        <p:nvSpPr>
          <p:cNvPr id="433" name="Text 10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34" name="Text 11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</a:t>
            </a:r>
          </a:p>
        </p:txBody>
      </p:sp>
      <p:sp>
        <p:nvSpPr>
          <p:cNvPr id="437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Pravidlá, ktoré ovplyvňujú hodnotenie</a:t>
            </a:r>
          </a:p>
        </p:txBody>
      </p:sp>
      <p:sp>
        <p:nvSpPr>
          <p:cNvPr id="438" name="Shape 2"/>
          <p:cNvSpPr/>
          <p:nvPr/>
        </p:nvSpPr>
        <p:spPr>
          <a:xfrm>
            <a:off x="548640" y="1645920"/>
            <a:ext cx="502923" cy="502923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Text 3"/>
          <p:cNvSpPr txBox="1"/>
          <p:nvPr/>
        </p:nvSpPr>
        <p:spPr>
          <a:xfrm>
            <a:off x="594359" y="17310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0" name="Text 4"/>
          <p:cNvSpPr txBox="1"/>
          <p:nvPr/>
        </p:nvSpPr>
        <p:spPr>
          <a:xfrm>
            <a:off x="1252727" y="1645921"/>
            <a:ext cx="4937762" cy="47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Odletená trajektória musí pochádzať z vášho plánovača — hardkódované waypointy namiesto výstupu z A1.1 → A1.2 max. 50 %.</a:t>
            </a:r>
          </a:p>
        </p:txBody>
      </p:sp>
      <p:sp>
        <p:nvSpPr>
          <p:cNvPr id="441" name="Shape 5"/>
          <p:cNvSpPr/>
          <p:nvPr/>
        </p:nvSpPr>
        <p:spPr>
          <a:xfrm>
            <a:off x="6217920" y="1645920"/>
            <a:ext cx="502923" cy="502923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Text 6"/>
          <p:cNvSpPr txBox="1"/>
          <p:nvPr/>
        </p:nvSpPr>
        <p:spPr>
          <a:xfrm>
            <a:off x="6263640" y="17310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3" name="Text 7"/>
          <p:cNvSpPr txBox="1"/>
          <p:nvPr/>
        </p:nvSpPr>
        <p:spPr>
          <a:xfrm>
            <a:off x="6922006" y="1645921"/>
            <a:ext cx="4937762" cy="47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Tangent heading a return-to-launch body v A1.3 vyžadujú, aby figure-8 SKUTOČNE odletela.</a:t>
            </a:r>
          </a:p>
        </p:txBody>
      </p:sp>
      <p:sp>
        <p:nvSpPr>
          <p:cNvPr id="444" name="Shape 8"/>
          <p:cNvSpPr/>
          <p:nvPr/>
        </p:nvSpPr>
        <p:spPr>
          <a:xfrm>
            <a:off x="548640" y="3246120"/>
            <a:ext cx="502923" cy="502923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Text 9"/>
          <p:cNvSpPr txBox="1"/>
          <p:nvPr/>
        </p:nvSpPr>
        <p:spPr>
          <a:xfrm>
            <a:off x="594359" y="33312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6" name="Text 10"/>
          <p:cNvSpPr txBox="1"/>
          <p:nvPr/>
        </p:nvSpPr>
        <p:spPr>
          <a:xfrm>
            <a:off x="1252727" y="3246121"/>
            <a:ext cx="493776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Dokumentácia je dokumentáciou FUNKČNÉHO riešenia, nie náhradou zaň.</a:t>
            </a:r>
          </a:p>
        </p:txBody>
      </p:sp>
      <p:sp>
        <p:nvSpPr>
          <p:cNvPr id="447" name="Shape 11"/>
          <p:cNvSpPr/>
          <p:nvPr/>
        </p:nvSpPr>
        <p:spPr>
          <a:xfrm>
            <a:off x="6217920" y="3246120"/>
            <a:ext cx="502923" cy="502923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Text 12"/>
          <p:cNvSpPr txBox="1"/>
          <p:nvPr/>
        </p:nvSpPr>
        <p:spPr>
          <a:xfrm>
            <a:off x="6263640" y="33312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49" name="Text 13"/>
          <p:cNvSpPr txBox="1"/>
          <p:nvPr/>
        </p:nvSpPr>
        <p:spPr>
          <a:xfrm>
            <a:off x="6922006" y="3246121"/>
            <a:ext cx="4937762" cy="47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Dron smeruje kam letí — okrem yaw úlohy a vzlet/pristátie manévru. Let bokom nezaskóruje heading body.</a:t>
            </a:r>
          </a:p>
        </p:txBody>
      </p:sp>
      <p:sp>
        <p:nvSpPr>
          <p:cNvPr id="450" name="Shape 14"/>
          <p:cNvSpPr/>
          <p:nvPr/>
        </p:nvSpPr>
        <p:spPr>
          <a:xfrm>
            <a:off x="548640" y="4846320"/>
            <a:ext cx="502923" cy="502923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Text 15"/>
          <p:cNvSpPr txBox="1"/>
          <p:nvPr/>
        </p:nvSpPr>
        <p:spPr>
          <a:xfrm>
            <a:off x="594359" y="49314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2" name="Text 16"/>
          <p:cNvSpPr txBox="1"/>
          <p:nvPr/>
        </p:nvSpPr>
        <p:spPr>
          <a:xfrm>
            <a:off x="1252727" y="4846321"/>
            <a:ext cx="4937762" cy="47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Hodnotí sa to, čo beží na obhajobe, na čistom checkoute vášho repozitára. „Fungovalo mi to včera" = nula.</a:t>
            </a:r>
          </a:p>
        </p:txBody>
      </p:sp>
      <p:sp>
        <p:nvSpPr>
          <p:cNvPr id="453" name="Shape 17"/>
          <p:cNvSpPr/>
          <p:nvPr/>
        </p:nvSpPr>
        <p:spPr>
          <a:xfrm>
            <a:off x="6217920" y="4846320"/>
            <a:ext cx="502923" cy="502923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Text 18"/>
          <p:cNvSpPr txBox="1"/>
          <p:nvPr/>
        </p:nvSpPr>
        <p:spPr>
          <a:xfrm>
            <a:off x="6263640" y="4931410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55" name="Text 19"/>
          <p:cNvSpPr txBox="1"/>
          <p:nvPr/>
        </p:nvSpPr>
        <p:spPr>
          <a:xfrm>
            <a:off x="6922006" y="4846321"/>
            <a:ext cx="4937762" cy="47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 používanie LLM/knižníc nie je penalizácia — za nevedieť vysvetliť to, čo ste odovzdali, áno: daná časť skóruje nula.</a:t>
            </a:r>
          </a:p>
        </p:txBody>
      </p:sp>
      <p:sp>
        <p:nvSpPr>
          <p:cNvPr id="456" name="Text 20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57" name="Text 21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0"/>
          <p:cNvSpPr txBox="1"/>
          <p:nvPr/>
        </p:nvSpPr>
        <p:spPr>
          <a:xfrm>
            <a:off x="594359" y="419916"/>
            <a:ext cx="72237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ZADANIE 1</a:t>
            </a:r>
          </a:p>
        </p:txBody>
      </p:sp>
      <p:sp>
        <p:nvSpPr>
          <p:cNvPr id="460" name="Text 1"/>
          <p:cNvSpPr txBox="1"/>
          <p:nvPr/>
        </p:nvSpPr>
        <p:spPr>
          <a:xfrm>
            <a:off x="594359" y="795528"/>
            <a:ext cx="1051560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172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Kde začať</a:t>
            </a:r>
          </a:p>
        </p:txBody>
      </p:sp>
      <p:sp>
        <p:nvSpPr>
          <p:cNvPr id="461" name="Shape 2"/>
          <p:cNvSpPr/>
          <p:nvPr/>
        </p:nvSpPr>
        <p:spPr>
          <a:xfrm>
            <a:off x="548640" y="1691638"/>
            <a:ext cx="502923" cy="502924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Text 3"/>
          <p:cNvSpPr txBox="1"/>
          <p:nvPr/>
        </p:nvSpPr>
        <p:spPr>
          <a:xfrm>
            <a:off x="594359" y="1776729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63" name="Text 4"/>
          <p:cNvSpPr txBox="1"/>
          <p:nvPr/>
        </p:nvSpPr>
        <p:spPr>
          <a:xfrm>
            <a:off x="1280159" y="2077020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b="1"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Rozbehnite simuláciu  </a:t>
            </a:r>
            <a:r>
              <a:rPr b="0" sz="1300">
                <a:solidFill>
                  <a:srgbClr val="55647F"/>
                </a:solidFill>
              </a:rPr>
              <a:t>— gz sim + SITL + MAVROS ručne, tri terminály — v 1. týždni, nie v 5.</a:t>
            </a:r>
          </a:p>
        </p:txBody>
      </p:sp>
      <p:sp>
        <p:nvSpPr>
          <p:cNvPr id="464" name="Shape 5"/>
          <p:cNvSpPr/>
          <p:nvPr/>
        </p:nvSpPr>
        <p:spPr>
          <a:xfrm>
            <a:off x="548640" y="2862072"/>
            <a:ext cx="502923" cy="502923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Text 6"/>
          <p:cNvSpPr txBox="1"/>
          <p:nvPr/>
        </p:nvSpPr>
        <p:spPr>
          <a:xfrm>
            <a:off x="594359" y="2947161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6" name="Text 7"/>
          <p:cNvSpPr txBox="1"/>
          <p:nvPr/>
        </p:nvSpPr>
        <p:spPr>
          <a:xfrm>
            <a:off x="1280159" y="3247452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b="1"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Precvičte si ROS 2 workspace  </a:t>
            </a:r>
            <a:r>
              <a:rPr b="0" sz="1300">
                <a:solidFill>
                  <a:srgbClr val="55647F"/>
                </a:solidFill>
              </a:rPr>
              <a:t>— tutorial/ros2_cheatsheet.md a postavte mt_executor_demo — dá vám to funkčný workspace aj štruktúru uzla.</a:t>
            </a:r>
          </a:p>
        </p:txBody>
      </p:sp>
      <p:sp>
        <p:nvSpPr>
          <p:cNvPr id="467" name="Shape 8"/>
          <p:cNvSpPr/>
          <p:nvPr/>
        </p:nvSpPr>
        <p:spPr>
          <a:xfrm>
            <a:off x="548640" y="4032503"/>
            <a:ext cx="502923" cy="502923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Text 9"/>
          <p:cNvSpPr txBox="1"/>
          <p:nvPr/>
        </p:nvSpPr>
        <p:spPr>
          <a:xfrm>
            <a:off x="594359" y="4117593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9" name="Text 10"/>
          <p:cNvSpPr txBox="1"/>
          <p:nvPr/>
        </p:nvSpPr>
        <p:spPr>
          <a:xfrm>
            <a:off x="1280159" y="4417884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b="1"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Prečítajte useful_links.md  </a:t>
            </a:r>
            <a:r>
              <a:rPr b="0" sz="1300">
                <a:solidFill>
                  <a:srgbClr val="55647F"/>
                </a:solidFill>
              </a:rPr>
              <a:t>— najmä zoznam MAVROS topics/services a MAVLink POSITION_TARGET — budete to mať otvorené neustále.</a:t>
            </a:r>
          </a:p>
        </p:txBody>
      </p:sp>
      <p:sp>
        <p:nvSpPr>
          <p:cNvPr id="470" name="Shape 11"/>
          <p:cNvSpPr/>
          <p:nvPr/>
        </p:nvSpPr>
        <p:spPr>
          <a:xfrm>
            <a:off x="548640" y="5202935"/>
            <a:ext cx="502923" cy="502923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Text 12"/>
          <p:cNvSpPr txBox="1"/>
          <p:nvPr/>
        </p:nvSpPr>
        <p:spPr>
          <a:xfrm>
            <a:off x="594359" y="5288025"/>
            <a:ext cx="411481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72" name="Text 13"/>
          <p:cNvSpPr txBox="1"/>
          <p:nvPr/>
        </p:nvSpPr>
        <p:spPr>
          <a:xfrm>
            <a:off x="1280159" y="5588316"/>
            <a:ext cx="1024128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20000"/>
              </a:lnSpc>
              <a:defRPr b="1" sz="1400">
                <a:solidFill>
                  <a:srgbClr val="1723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Lietajte ručne z terminálu  </a:t>
            </a:r>
            <a:r>
              <a:rPr b="0" sz="1300">
                <a:solidFill>
                  <a:srgbClr val="55647F"/>
                </a:solidFill>
              </a:rPr>
              <a:t>— ros2 service call / ros2 topic pub — arm, vzlet, jeden setpoint. Keď to funguje ručne, uzol je hlavne to isté v slučke.</a:t>
            </a:r>
          </a:p>
        </p:txBody>
      </p:sp>
      <p:sp>
        <p:nvSpPr>
          <p:cNvPr id="473" name="Text 14"/>
          <p:cNvSpPr txBox="1"/>
          <p:nvPr/>
        </p:nvSpPr>
        <p:spPr>
          <a:xfrm>
            <a:off x="594359" y="6423705"/>
            <a:ext cx="35661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LRS-URK  ·  Cvičenie 1</a:t>
            </a:r>
          </a:p>
        </p:txBody>
      </p:sp>
      <p:sp>
        <p:nvSpPr>
          <p:cNvPr id="474" name="Text 15"/>
          <p:cNvSpPr txBox="1"/>
          <p:nvPr/>
        </p:nvSpPr>
        <p:spPr>
          <a:xfrm>
            <a:off x="11414453" y="6423705"/>
            <a:ext cx="4572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000">
                <a:solidFill>
                  <a:srgbClr val="55647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0"/>
          <p:cNvSpPr/>
          <p:nvPr/>
        </p:nvSpPr>
        <p:spPr>
          <a:xfrm>
            <a:off x="-2194561" y="-2377440"/>
            <a:ext cx="6400802" cy="6400803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Shape 1"/>
          <p:cNvSpPr/>
          <p:nvPr/>
        </p:nvSpPr>
        <p:spPr>
          <a:xfrm>
            <a:off x="8961118" y="3840479"/>
            <a:ext cx="5486403" cy="5486403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Text 2"/>
          <p:cNvSpPr txBox="1"/>
          <p:nvPr/>
        </p:nvSpPr>
        <p:spPr>
          <a:xfrm>
            <a:off x="868680" y="2001519"/>
            <a:ext cx="9966960" cy="751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Ďakujeme za pozornosť</a:t>
            </a:r>
          </a:p>
        </p:txBody>
      </p:sp>
      <p:sp>
        <p:nvSpPr>
          <p:cNvPr id="479" name="Text 3"/>
          <p:cNvSpPr txBox="1"/>
          <p:nvPr/>
        </p:nvSpPr>
        <p:spPr>
          <a:xfrm>
            <a:off x="868680" y="2850976"/>
            <a:ext cx="90525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>
                <a:solidFill>
                  <a:srgbClr val="CFE0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Čas na vaše otázky.</a:t>
            </a:r>
          </a:p>
        </p:txBody>
      </p:sp>
      <p:sp>
        <p:nvSpPr>
          <p:cNvPr id="480" name="Shape 4"/>
          <p:cNvSpPr/>
          <p:nvPr/>
        </p:nvSpPr>
        <p:spPr>
          <a:xfrm>
            <a:off x="822958" y="3429000"/>
            <a:ext cx="2926083" cy="0"/>
          </a:xfrm>
          <a:prstGeom prst="line">
            <a:avLst/>
          </a:prstGeom>
          <a:ln w="28575">
            <a:solidFill>
              <a:srgbClr val="E8A33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Text 6"/>
          <p:cNvSpPr txBox="1"/>
          <p:nvPr/>
        </p:nvSpPr>
        <p:spPr>
          <a:xfrm>
            <a:off x="868680" y="4340160"/>
            <a:ext cx="99669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400">
                <a:solidFill>
                  <a:srgbClr val="A9C7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GitHub:  </a:t>
            </a:r>
            <a:r>
              <a:rPr b="0">
                <a:solidFill>
                  <a:srgbClr val="FFFFFF"/>
                </a:solidFill>
              </a:rPr>
              <a:t>github.com/KocurMaros/LRS-URK</a:t>
            </a:r>
            <a:r>
              <a:rPr b="0">
                <a:solidFill>
                  <a:srgbClr val="7C8CB0"/>
                </a:solidFill>
              </a:rPr>
              <a:t>   (vetva exams)</a:t>
            </a:r>
          </a:p>
        </p:txBody>
      </p:sp>
      <p:sp>
        <p:nvSpPr>
          <p:cNvPr id="482" name="Text 7"/>
          <p:cNvSpPr txBox="1"/>
          <p:nvPr/>
        </p:nvSpPr>
        <p:spPr>
          <a:xfrm>
            <a:off x="868680" y="4843080"/>
            <a:ext cx="99669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400">
                <a:solidFill>
                  <a:srgbClr val="A9C7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Zadanie:  </a:t>
            </a:r>
            <a:r>
              <a:rPr b="0">
                <a:solidFill>
                  <a:srgbClr val="FFFFFF"/>
                </a:solidFill>
              </a:rPr>
              <a:t>assignments/assignment1/</a:t>
            </a:r>
            <a:r>
              <a:rPr b="0">
                <a:solidFill>
                  <a:srgbClr val="7C8CB0"/>
                </a:solidFill>
              </a:rPr>
              <a:t>  v repozitári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